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e4312def43a4d1f" /><Relationship Type="http://schemas.openxmlformats.org/officeDocument/2006/relationships/extended-properties" Target="/docProps/app.xml" Id="R0aed5736e8bc4c6d" /><Relationship Type="http://schemas.openxmlformats.org/officeDocument/2006/relationships/officeDocument" Target="/ppt/presentation.xml" Id="R318411c0caca40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dff789a6f684d42"/>
  </p:sldMasterIdLst>
  <p:notesMasterIdLst>
    <p:notesMasterId xmlns:r="http://schemas.openxmlformats.org/officeDocument/2006/relationships" r:id="Re635ca46b48d4b86"/>
  </p:notesMasterIdLst>
  <p:sldIdLst>
    <p:sldId xmlns:r="http://schemas.openxmlformats.org/officeDocument/2006/relationships" id="256" r:id="Rf68aa5e9d149410e"/>
    <p:sldId xmlns:r="http://schemas.openxmlformats.org/officeDocument/2006/relationships" id="257" r:id="R6c3ea1a298a3493b"/>
    <p:sldId xmlns:r="http://schemas.openxmlformats.org/officeDocument/2006/relationships" id="258" r:id="Re1e1402fe275499d"/>
    <p:sldId xmlns:r="http://schemas.openxmlformats.org/officeDocument/2006/relationships" id="259" r:id="Rdcd63e1de7dc4a88"/>
    <p:sldId xmlns:r="http://schemas.openxmlformats.org/officeDocument/2006/relationships" id="260" r:id="R61d67cc2174a4c3c"/>
    <p:sldId xmlns:r="http://schemas.openxmlformats.org/officeDocument/2006/relationships" id="261" r:id="R0257d17b69b74c7f"/>
    <p:sldId xmlns:r="http://schemas.openxmlformats.org/officeDocument/2006/relationships" id="262" r:id="R8eb1d3ff8ca34d1d"/>
    <p:sldId xmlns:r="http://schemas.openxmlformats.org/officeDocument/2006/relationships" id="263" r:id="R6d236cc08bf34768"/>
    <p:sldId xmlns:r="http://schemas.openxmlformats.org/officeDocument/2006/relationships" id="264" r:id="Rd375ca805c8d4aaf"/>
    <p:sldId xmlns:r="http://schemas.openxmlformats.org/officeDocument/2006/relationships" id="265" r:id="R603c38bb904542e2"/>
    <p:sldId xmlns:r="http://schemas.openxmlformats.org/officeDocument/2006/relationships" id="266" r:id="Rc0698a670c28491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24d53d8f3d4624" /><Relationship Type="http://schemas.openxmlformats.org/officeDocument/2006/relationships/slideMaster" Target="/ppt/slideMasters/slideMaster1.xml" Id="R5dff789a6f684d42" /><Relationship Type="http://schemas.openxmlformats.org/officeDocument/2006/relationships/notesMaster" Target="/ppt/notesMasters/notesMaster1.xml" Id="Re635ca46b48d4b86" /><Relationship Type="http://schemas.openxmlformats.org/officeDocument/2006/relationships/presProps" Target="/ppt/presProps.xml" Id="R23c3233efe7b4dca" /><Relationship Type="http://schemas.openxmlformats.org/officeDocument/2006/relationships/tableStyles" Target="/ppt/tableStyles.xml" Id="R7c5b253a39514507" /><Relationship Type="http://schemas.openxmlformats.org/officeDocument/2006/relationships/slide" Target="/ppt/slides/slide1.xml" Id="Rf68aa5e9d149410e" /><Relationship Type="http://schemas.openxmlformats.org/officeDocument/2006/relationships/slide" Target="/ppt/slides/slide2.xml" Id="R6c3ea1a298a3493b" /><Relationship Type="http://schemas.openxmlformats.org/officeDocument/2006/relationships/slide" Target="/ppt/slides/slide3.xml" Id="Re1e1402fe275499d" /><Relationship Type="http://schemas.openxmlformats.org/officeDocument/2006/relationships/slide" Target="/ppt/slides/slide4.xml" Id="Rdcd63e1de7dc4a88" /><Relationship Type="http://schemas.openxmlformats.org/officeDocument/2006/relationships/slide" Target="/ppt/slides/slide5.xml" Id="R61d67cc2174a4c3c" /><Relationship Type="http://schemas.openxmlformats.org/officeDocument/2006/relationships/slide" Target="/ppt/slides/slide6.xml" Id="R0257d17b69b74c7f" /><Relationship Type="http://schemas.openxmlformats.org/officeDocument/2006/relationships/slide" Target="/ppt/slides/slide7.xml" Id="R8eb1d3ff8ca34d1d" /><Relationship Type="http://schemas.openxmlformats.org/officeDocument/2006/relationships/slide" Target="/ppt/slides/slide8.xml" Id="R6d236cc08bf34768" /><Relationship Type="http://schemas.openxmlformats.org/officeDocument/2006/relationships/slide" Target="/ppt/slides/slide9.xml" Id="Rd375ca805c8d4aaf" /><Relationship Type="http://schemas.openxmlformats.org/officeDocument/2006/relationships/slide" Target="/ppt/slides/slide10.xml" Id="R603c38bb904542e2" /><Relationship Type="http://schemas.openxmlformats.org/officeDocument/2006/relationships/slide" Target="/ppt/slides/slide11.xml" Id="Rc0698a670c28491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f1002a7593b4b1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e097985aee34270" /><Relationship Type="http://schemas.openxmlformats.org/officeDocument/2006/relationships/notesMaster" Target="/ppt/notesMasters/notesMaster1.xml" Id="Rc84c06df0b724a9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d4d541d0d754b89" /><Relationship Type="http://schemas.openxmlformats.org/officeDocument/2006/relationships/notesMaster" Target="/ppt/notesMasters/notesMaster1.xml" Id="R142db52751cc46f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257e8777e1f407f" /><Relationship Type="http://schemas.openxmlformats.org/officeDocument/2006/relationships/notesMaster" Target="/ppt/notesMasters/notesMaster1.xml" Id="Rfa4cc897637a464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78d0d88f9954d40" /><Relationship Type="http://schemas.openxmlformats.org/officeDocument/2006/relationships/notesMaster" Target="/ppt/notesMasters/notesMaster1.xml" Id="Rf4dd88c88512476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b121b136a9b48ca" /><Relationship Type="http://schemas.openxmlformats.org/officeDocument/2006/relationships/notesMaster" Target="/ppt/notesMasters/notesMaster1.xml" Id="Re19ab026ff75447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37f3e7bac0742c8" /><Relationship Type="http://schemas.openxmlformats.org/officeDocument/2006/relationships/notesMaster" Target="/ppt/notesMasters/notesMaster1.xml" Id="Rc06650667c624b0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61c9c537fc14e5a" /><Relationship Type="http://schemas.openxmlformats.org/officeDocument/2006/relationships/notesMaster" Target="/ppt/notesMasters/notesMaster1.xml" Id="Rbbf57996ac73453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c6910042cb946e3" /><Relationship Type="http://schemas.openxmlformats.org/officeDocument/2006/relationships/notesMaster" Target="/ppt/notesMasters/notesMaster1.xml" Id="Rc2ba98a6136c47f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462577074194e47" /><Relationship Type="http://schemas.openxmlformats.org/officeDocument/2006/relationships/notesMaster" Target="/ppt/notesMasters/notesMaster1.xml" Id="Ra7b1b600d4864ce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817e3417308414b" /><Relationship Type="http://schemas.openxmlformats.org/officeDocument/2006/relationships/notesMaster" Target="/ppt/notesMasters/notesMaster1.xml" Id="Rd35304f39546423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fdd45f8975a495e" /><Relationship Type="http://schemas.openxmlformats.org/officeDocument/2006/relationships/notesMaster" Target="/ppt/notesMasters/notesMaster1.xml" Id="Rad32b7a3dff54b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0:00–0:25. Spot помогает жителям и гостям Астаны выбрать короткую прогулку рядом с выбранной точкой. Его исходный вопрос прост: что я успею за своё свободное время? Мы сделали работающий локальный прототип, который учитывает условия запроса и показывает, откуда взял ответ. Сейчас я покажу один фактический план, роль AI и следующий шаг продукта.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продуктовый контракт и sources/hackathon_requirements.pdf, трек НИЦ Smart City. Код 906ae60d3bf0843f6bc6eb09f5605e4c66dc81e0796bff1baf45099d39e9957b. Корпус cb8dcfff85509eb2498bb40b3b5edafb4f3d2995ca92844709da3bc8d4607fe9, снимок 18.10.2026. Реальные скриншоты локального приложения, без API fixtures. capture-verification.json: live, local-hybrid, ollama-validated, qwen3:0.6b, spot-grounded-choices-v4. Публичный демонстрационный старт у Ботанического сада, явно выбрано 18.10.2026 12:00 Астана UTC+5. © OpenStreetMap contributors, ODbL, https://www.openstreetmap.org/copyright . На обложке фактический расчёт пути, без декоративно дорисованных улиц или маршрутов.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0:25–1:05. Представьте жителя или гостя города: до следующего дела есть час, хочется кофе и немного пройтись, а затем вернуться. Самостоятельно приходится совместить место, дорогу и условия. Свободное время заканчивается, пока человек сравнивает варианты. Spot собирает эти условия в один запрос и возвращает короткий понятный план. Мы выбрали узкую задачу: от одного до трёх мест рядом, без планирования целого дня и без бронирования.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продуктовый контракт и sources/hackathon_requirements.pdf, трек НИЦ Smart City. Код 906ae60d3bf0843f6bc6eb09f5605e4c66dc81e0796bff1baf45099d39e9957b. Корпус cb8dcfff85509eb2498bb40b3b5edafb4f3d2995ca92844709da3bc8d4607fe9, снимок 18.10.2026. Проблема сформулирована как продуктовая гипотеза, исследование рынка или замер потерянного времени не заявляются. Фото: DiamondMoore, «Botanical Garden Nur-Sultan fountains during Sunset.jpg», https://commons.wikimedia.org/wiki/File:Botanical_Garden_Nur-Sultan_fountains_during_Sunset.jpg . CC BY-SA 4.0, https://creativecommons.org/licenses/by-sa/4.0/ . Исторический кадр, кадрирование для композиции, это не проверка текущего состояния места. Точное фото присутствует в текущем data/pois.json.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1:05–1:45. В интерфейсе человек пишет: сначала кофе, затем парк, у меня шестьдесят минут, нужно вернуться. Он выбирает старт и может явно задать время по Астане. Приложение показывает действующие условия и сохраняет их при продолжении разговора. Например, просьба искать только внутри не должна незаметно отменять лимит или обязательный парк. Если сочетание не подтверждается данными, Spot сообщает об этом. Так пользователь видит и смысл запроса, и границы ответа.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продуктовый контракт и sources/hackathon_requirements.pdf, трек НИЦ Smart City. Код 906ae60d3bf0843f6bc6eb09f5605e4c66dc81e0796bff1baf45099d39e9957b. Корпус cb8dcfff85509eb2498bb40b3b5edafb4f3d2995ca92844709da3bc8d4607fe9, снимок 18.10.2026. Реальные скриншоты локального приложения, без API fixtures. capture-verification.json: live, local-hybrid, ollama-validated, qwen3:0.6b, spot-grounded-choices-v4. Публичный демонстрационный старт у Ботанического сада, явно выбрано 18.10.2026 12:00 Астана UTC+5. © OpenStreetMap contributors, ODbL, https://www.openstreetmap.org/copyright . Кроп фактического UI без изменения текста. Основные действия доступны RU/KK/EN, остальные разделы переведены частично; полная локализация не заявляется.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1:45–2:35. Это фактический результат локального запуска. Старт у Ботанического сада, восемнадцатого октября в двенадцать часов по Астане. Запрос требует кафе, затем парк и возврат. Spot выбрал Canele и Ботанический сад. Сервер сопоставил оба обязательных этапа с реальными POI и получил пешеходные участки. Общая оценка составляет сорок три минуты: восемнадцать на месте, двадцать на переходы и пять минут резерва. Конец совпадает со стартовым парком. Время приблизительное: скорость ходьбы и доступность проходов могут отличаться.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продуктовый контракт и sources/hackathon_requirements.pdf, трек НИЦ Smart City. Код 906ae60d3bf0843f6bc6eb09f5605e4c66dc81e0796bff1baf45099d39e9957b. Корпус cb8dcfff85509eb2498bb40b3b5edafb4f3d2995ca92844709da3bc8d4607fe9, снимок 18.10.2026. Реальные скриншоты локального приложения, без API fixtures. capture-verification.json: live, local-hybrid, ollama-validated, qwen3:0.6b, spot-grounded-choices-v4. Публичный демонстрационный старт у Ботанического сада, явно выбрано 18.10.2026 12:00 Астана UTC+5. © OpenStreetMap contributors, ODbL, https://www.openstreetmap.org/copyright . Фактические 3 walking legs: 582.445 с/813 м до Canele, 570.883 с/813 м к парку и 0 с/0 м возврат, поскольку парк совпадает с выбранной точкой старта. Выход complete / fits_estimate. Исторический воспроизводимый сценарий, не текущая дата похода. Доказательства separate-coffee60-results.json и capture-verification.json.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2:35–3:10. Наше отличие сформулировано вокруг конкретной задачи пользователя. Spot соединяет лимит времени, обязательные этапы и возврат, затем объясняет подобранный вариант по данным. Карта остаётся важным инструментом проверки. Из карточки можно открыть публичное место в Google Maps, уточнить часы и посмотреть дополнительные материалы. Мы не копируем каталог Google и не утверждаем, что другие карты не умеют строить маршруты. Здесь мы демонстрируем свой узкий сценарий выбора и проверки короткой прогулки.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продуктовый контракт и sources/hackathon_requirements.pdf, трек НИЦ Smart City. Код 906ae60d3bf0843f6bc6eb09f5605e4c66dc81e0796bff1baf45099d39e9957b. Корпус cb8dcfff85509eb2498bb40b3b5edafb4f3d2995ca92844709da3bc8d4607fe9, снимок 18.10.2026. Spot: src/lib/search.ts, ui-copy.ts и API search. Внешняя ссылка использует официальные Maps URLs api=1, https://developers.google.com/maps/documentation/urls/get-started . Сравнение описывает фактически реализованный фокус Spot, не полный сравнительный аудит возможностей Google Maps.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3:10–3:55. AI здесь работает с извлечёнными городскими данными. Сначала поиск сужает кандидатов по географии, тексту и векторам. Локальная Qwen выбирает номера из этого набора. Затем сервер связывает выбор с ID и фактами, проверяет обязательные этапы, ограничения и время пути. Модель не получает право придумывать место или его свойства. В индекс вошли две тысячи сто семьдесят записей; пять сомнительных по городу записей исключены из выдачи. Мы индексировали данные для RAG, веса модели не обучали. При неподтверждённом ответе сохраняется безопасный отказ или уточнение.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продуктовый контракт и sources/hackathon_requirements.pdf, трек НИЦ Smart City. Код 906ae60d3bf0843f6bc6eb09f5605e4c66dc81e0796bff1baf45099d39e9957b. Корпус cb8dcfff85509eb2498bb40b3b5edafb4f3d2995ca92844709da3bc8d4607fe9, снимок 18.10.2026. Индекс: data/reports/local-index.json, embeddinggemma768. qwen3:0.6b через Ollama, spot-grounded-choices-v4. Реальные ответы и серверные gates: artifacts/verification/local-compound-r2-20261018/summary.json. Это содержательная editable data-flow схема, не иллюстрация. Точный старт отдельным полем Qwen не передаём; пользовательский текст обрабатывается локальной моделью и может содержать введённые пользователем данные.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3:55–4:30. Будущая бизнес-гипотеза: небольшой виджет прогулки для отеля или коворкинга. Человек задаёт, сколько времени у него есть до встречи или выезда, и получает несколько подходящих мест рядом. Это гипотеза следующего этапа, существующих партнёров и выручки у прототипа мы не заявляем. Сначала нужно проверить полезность для гостей и готовность организаций подключать такой сервис. Ранжирование должно оставаться привязанным к условиям человека и подтверждённым данным, без рекламного продвижения мест в выдаче.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продуктовый контракт и sources/hackathon_requirements.pdf, трек НИЦ Smart City. Код 906ae60d3bf0843f6bc6eb09f5605e4c66dc81e0796bff1baf45099d39e9957b. Корпус cb8dcfff85509eb2498bb40b3b5edafb4f3d2995ca92844709da3bc8d4607fe9, снимок 18.10.2026. B2B-сценарий сформулирован как будущая гипотеза, не валидированная бизнес-модель. Нет заявлений о рынке, пользователях, продажах или заключённых партнёрствах.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4:30–5:15. Пользователь сам включает геолокацию или выбирает старт вручную. Поисковые координаты идут серверу в POST, не в адресе страницы. Приложение не хранит историю запросов и перемещений в базе или localStorage. Карта и фото используют внешние источники, а при включённом маршруте сервис получает его координаты. Это показано в разделе данных и ограничений. Места приходят из OpenStreetMap, фотографии имеют собственные лицензии Commons. Платные облачные AI-вызовы по умолчанию запрещены. Риск неполных часов может привести к неверному выбору. Система помечает неизвестность и применяет строгие фильтры по требованию, но часы нужно проверить перед выходом. Если модель или маршрутный сервис недоступны, приложение показывает degraded или unverified и не выдумывает минуты пешего пути. Остаются ручная проверка и отсутствие гарантии маршрута.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продуктовый контракт и sources/hackathon_requirements.pdf, трек НИЦ Smart City. Код 906ae60d3bf0843f6bc6eb09f5605e4c66dc81e0796bff1baf45099d39e9957b. Корпус cb8dcfff85509eb2498bb40b3b5edafb4f3d2995ca92844709da3bc8d4607fe9, снимок 18.10.2026. Фактический кроп DataLimits.tsx из R2. Supabase получает параметры только при подключении. Google Maps открывает публичное место без пользовательского старта и без ключа. Ссылки: https://www.openstreetmap.org/copyright ; https://commons.wikimedia.org/wiki/Commons:Reusing_content_outside_Wikimedia . Полный privacy paragraph сохранён в скриншоте, ничего не замазано и не переписано.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5:15–6:00. Следующий шаг — будущий пилот с десятью жителями и гостями Астаны. Мы хотим проверить, помогает ли короткий план выбрать прогулку, совпадают ли факты с реальным местом и насколько точна оценка времени. Сейчас есть работающий прототип и формальные проверки, но они не заменяют такое исследование. Погода, проверенные события и трансфер в аэропорт пока не подключены. Данные часов и цен неполны. На защите мы предлагаем оценить узкий работающий сценарий и помочь перейти к проверке на настоящих прогулках.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продуктовый контракт и sources/hackathon_requirements.pdf, трек НИЦ Smart City. Код 906ae60d3bf0843f6bc6eb09f5605e4c66dc81e0796bff1baf45099d39e9957b. Корпус cb8dcfff85509eb2498bb40b3b5edafb4f3d2995ca92844709da3bc8d4607fe9, снимок 18.10.2026. 10 участников — план пилота, не traction и не проведённый эксперимент. Подтверждённые core/browser/eval результаты находятся в приложении. Часы, цены и розетки могут быть неизвестны. В аэропорт нужен отдельный подтверждённый вид транспорта, walking-only прототип уточняет и не обещает трансфер.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Приложение. Полная проверка R2: 265 unit/integration, 38 браузерных сценариев, snapshot18/18, eval10/10, восемь проверок harness. Браузерный набор включает явно отделённые UI fixtures. Отдельный локальный прогон дал два положительных walking-плана:43/60 и58/90. Первоначальное ожидание положительного40-минутного сценария не оправдалось: приложение вернуло no_match после проверки лимита. Это не доказывает отсутствие варианта во всём городе. Фиксированные четырнадцать внутренних семантических кейсов улучшились5/14→14/14, но это не оценка жюри и не исследование пользовательской пользы.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продуктовый контракт и sources/hackathon_requirements.pdf, трек НИЦ Smart City. Код 906ae60d3bf0843f6bc6eb09f5605e4c66dc81e0796bff1baf45099d39e9957b. Корпус cb8dcfff85509eb2498bb40b3b5edafb4f3d2995ca92844709da3bc8d4607fe9, снимок 18.10.2026. artifacts/verification/2026-10-18T18-12-20-902Z-22916-verify/report.json ; artifacts/verification/browser-r2-summary-20261018.json ; artifacts/verification/quality-r2-20261018/before.json и after.json ; artifacts/verification/local-compound-r2-20261018/summary.json . Облачные платные AI-вызовы0, веса не обучались.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Приложение. Снимок18.10.2026:2170сохранённых/индексированных записей,2165допущенных к поиску,5исключены из рекомендаций из-за явного другого города. Это неполный каталог Астаны. Часы есть у337мест, фотографии у14мест,60изображений. Фото недостаточно для большинства POI; система не заменяет их похожими картинками. Источники OpenStreetMap/ODbL, Commons/лицензия каждого файла, официальные внешние ссылки. Сервис Maps открывает внешнюю проверку, каталог Google не копируется и не используется для обучения. Риск неполных часов влияет на выбор места: unknown и строгий фильтр уменьшают риск, остаток требует ручной проверки. Сбой модели или маршрута приводит к degraded/unverified без выдуманных walking-минут; ручная проверка и доступность внешнего сервиса остаются пределами.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продуктовый контракт и sources/hackathon_requirements.pdf, трек НИЦ Smart City. Код 906ae60d3bf0843f6bc6eb09f5605e4c66dc81e0796bff1baf45099d39e9957b. Корпус cb8dcfff85509eb2498bb40b3b5edafb4f3d2995ca92844709da3bc8d4607fe9, снимок 18.10.2026. Фото слайда2: DiamondMoore, «Botanical Garden Nur-Sultan fountains during Sunset.jpg», https://commons.wikimedia.org/wiki/File:Botanical_Garden_Nur-Sultan_fountains_during_Sunset.jpg , CC BY-SA4.0, https://creativecommons.org/licenses/by-sa/4.0/ . Кадрирование, историческое фото. Скриншоты и карта: фактическое приложениеSpot, ©OpenStreetMap contributors, https://www.openstreetmap.org/copyright . Полные данные: data/pois.json, data/provenance.json, data/photo-links.json, data/scope-exclusions.json. Авторинг Presentations/artifact-tool; QA AnthropicPPTX. PowerPoint native UI при создании не открывался.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72edd7c0fa44b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99a5743d994f3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cea18d7dbb4fa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bfc30d4c6b410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0e295b2057489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27a30e6e6a43f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CF358E3-055B-41C0-A69F-35159EC6CD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74FE372-50B2-4DA3-99FB-6E4779C7F2B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131ECF6-30D2-475F-9D2E-3F2C70D7BD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EF37285-7AA5-4586-A3EA-1B3BE9FD48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E756566-330B-48D8-9383-36F59045375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B8B543B-5D4E-4734-8951-84C0F36C64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C80676D-B904-4611-8A45-06AADCF6E11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2554B4E-72E3-41E2-976E-1ED99989BF6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3C7BF42-19CC-4FE9-9E36-4701BEDE9F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1D32B86-D911-4B8C-9466-3C6EBF58370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023576bedd24647" /><Relationship Type="http://schemas.openxmlformats.org/officeDocument/2006/relationships/slideLayout" Target="/ppt/slideLayouts/slideLayout1.xml" Id="R81bc7ef161e144ed" /><Relationship Type="http://schemas.openxmlformats.org/officeDocument/2006/relationships/slideLayout" Target="/ppt/slideLayouts/slideLayout2.xml" Id="R47f06f73436047f5" /><Relationship Type="http://schemas.openxmlformats.org/officeDocument/2006/relationships/slideLayout" Target="/ppt/slideLayouts/slideLayout3.xml" Id="R0700f659d1184fbf" /><Relationship Type="http://schemas.openxmlformats.org/officeDocument/2006/relationships/slideLayout" Target="/ppt/slideLayouts/slideLayout4.xml" Id="R05db284c7ad948f0" /><Relationship Type="http://schemas.openxmlformats.org/officeDocument/2006/relationships/slideLayout" Target="/ppt/slideLayouts/slideLayout5.xml" Id="R5879dc3d53f54119" /><Relationship Type="http://schemas.openxmlformats.org/officeDocument/2006/relationships/slideLayout" Target="/ppt/slideLayouts/slideLayout6.xml" Id="R3b5181d1488a4d6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1bc7ef161e144ed"/>
    <p:sldLayoutId xmlns:r="http://schemas.openxmlformats.org/officeDocument/2006/relationships" id="2147483650" r:id="R47f06f73436047f5"/>
    <p:sldLayoutId xmlns:r="http://schemas.openxmlformats.org/officeDocument/2006/relationships" id="2147483651" r:id="R0700f659d1184fbf"/>
    <p:sldLayoutId xmlns:r="http://schemas.openxmlformats.org/officeDocument/2006/relationships" id="2147483652" r:id="R05db284c7ad948f0"/>
    <p:sldLayoutId xmlns:r="http://schemas.openxmlformats.org/officeDocument/2006/relationships" id="2147483653" r:id="R5879dc3d53f54119"/>
    <p:sldLayoutId xmlns:r="http://schemas.openxmlformats.org/officeDocument/2006/relationships" id="2147483654" r:id="R3b5181d1488a4d6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4cf6eeec3142f5" /><Relationship Type="http://schemas.openxmlformats.org/officeDocument/2006/relationships/image" Target="/ppt/media/image.png" Id="R394f4a1402dd4438" /><Relationship Type="http://schemas.openxmlformats.org/officeDocument/2006/relationships/notesSlide" Target="/ppt/notesSlides/notesSlide1.xml" Id="Reba488b6f8eb48d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270480e6124975" /><Relationship Type="http://schemas.openxmlformats.org/officeDocument/2006/relationships/image" Target="/ppt/media/image.jpeg" Id="Ra55c9358d7cd4394" /><Relationship Type="http://schemas.openxmlformats.org/officeDocument/2006/relationships/notesSlide" Target="/ppt/notesSlides/notesSlide2.xml" Id="R826aeb13a144484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651e0ec72241fd" /><Relationship Type="http://schemas.openxmlformats.org/officeDocument/2006/relationships/image" Target="/ppt/media/image2.png" Id="R186eda6f0f914524" /><Relationship Type="http://schemas.openxmlformats.org/officeDocument/2006/relationships/notesSlide" Target="/ppt/notesSlides/notesSlide3.xml" Id="Rbd2ebd03a61e4a9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e88b53d6a5463b" /><Relationship Type="http://schemas.openxmlformats.org/officeDocument/2006/relationships/image" Target="/ppt/media/image3.png" Id="R0065119b7e7146c5" /><Relationship Type="http://schemas.openxmlformats.org/officeDocument/2006/relationships/notesSlide" Target="/ppt/notesSlides/notesSlide4.xml" Id="R67201b25570b4a0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6406ba32fc42f9" /><Relationship Type="http://schemas.openxmlformats.org/officeDocument/2006/relationships/notesSlide" Target="/ppt/notesSlides/notesSlide5.xml" Id="R5401c5b42fbb474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c727a915b142b3" /><Relationship Type="http://schemas.openxmlformats.org/officeDocument/2006/relationships/notesSlide" Target="/ppt/notesSlides/notesSlide6.xml" Id="Rdb04ff54472841e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cc725b274840f4" /><Relationship Type="http://schemas.openxmlformats.org/officeDocument/2006/relationships/notesSlide" Target="/ppt/notesSlides/notesSlide7.xml" Id="R83953b1febf1487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5c35e4ed3643df" /><Relationship Type="http://schemas.openxmlformats.org/officeDocument/2006/relationships/image" Target="/ppt/media/image4.png" Id="R95648090d4d24e84" /><Relationship Type="http://schemas.openxmlformats.org/officeDocument/2006/relationships/notesSlide" Target="/ppt/notesSlides/notesSlide8.xml" Id="R57ae47f6af6a427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ad35cffcd94b0c" /><Relationship Type="http://schemas.openxmlformats.org/officeDocument/2006/relationships/notesSlide" Target="/ppt/notesSlides/notesSlide9.xml" Id="Rf610edd44dbe443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950bc00b1c471a" /><Relationship Type="http://schemas.openxmlformats.org/officeDocument/2006/relationships/notesSlide" Target="/ppt/notesSlides/notesSlide10.xml" Id="R40bca256e1a0456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85de1efcca461f" /><Relationship Type="http://schemas.openxmlformats.org/officeDocument/2006/relationships/notesSlide" Target="/ppt/notesSlides/notesSlide11.xml" Id="Rf77f4a0c264a450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2F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57E459-878C-4FB6-9222-498E1D3567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4f4a1402dd4438"/>
          <a:srcRect xmlns:a="http://schemas.openxmlformats.org/drawingml/2006/main" l="23554" t="0" r="2355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0"/>
            <a:ext cx="5619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pot.">
            <a:extLst xmlns:a="http://schemas.openxmlformats.org/drawingml/2006/main">
              <a:ext uri="{FF2B5EF4-FFF2-40B4-BE49-F238E27FC236}">
                <a16:creationId xmlns:a16="http://schemas.microsoft.com/office/drawing/2014/main" id="{657BB263-BE18-4028-B275-37570DA99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59055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0" b="1">
                <a:solidFill>
                  <a:srgbClr val="D8FA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0" b="1">
                <a:solidFill>
                  <a:srgbClr val="D8FA6B"/>
                </a:solidFill>
                <a:latin typeface="Arial"/>
                <a:ea typeface="Arial"/>
                <a:cs typeface="Arial"/>
              </a:defRPr>
            </a:pPr>
            <a:r>
              <a:rPr sz="12750" b="1">
                <a:solidFill>
                  <a:srgbClr val="D8FA6B"/>
                </a:solidFill>
                <a:latin typeface="Arial"/>
                <a:ea typeface="Arial"/>
                <a:cs typeface="Arial"/>
              </a:rPr>
              <a:t>spot.</a:t>
            </a:r>
          </a:p>
        </p:txBody>
      </p:sp>
      <p:sp>
        <p:nvSpPr>
          <p:cNvPr id="3" name="Астана за твоё время">
            <a:extLst xmlns:a="http://schemas.openxmlformats.org/drawingml/2006/main">
              <a:ext uri="{FF2B5EF4-FFF2-40B4-BE49-F238E27FC236}">
                <a16:creationId xmlns:a16="http://schemas.microsoft.com/office/drawing/2014/main" id="{DAD7704F-C138-41D5-AB8F-440ECC107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19400"/>
            <a:ext cx="57150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4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Астана</a:t>
            </a:r>
          </a:p>
          <a:p xmlns:a="http://schemas.openxmlformats.org/drawingml/2006/main">
            <a:pPr algn="l">
              <a:defRPr sz="4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за твоё время</a:t>
            </a:r>
          </a:p>
        </p:txBody>
      </p:sp>
      <p:sp>
        <p:nvSpPr>
          <p:cNvPr id="4" name="ИИ-помощник для коротких прогулок">
            <a:extLst xmlns:a="http://schemas.openxmlformats.org/drawingml/2006/main">
              <a:ext uri="{FF2B5EF4-FFF2-40B4-BE49-F238E27FC236}">
                <a16:creationId xmlns:a16="http://schemas.microsoft.com/office/drawing/2014/main" id="{0E807C91-8F47-4508-99E8-BCBA2760F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72050"/>
            <a:ext cx="533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0">
                <a:solidFill>
                  <a:srgbClr val="BCCFC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BCCFC5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BCCFC5"/>
                </a:solidFill>
                <a:latin typeface="Arial"/>
                <a:ea typeface="Arial"/>
                <a:cs typeface="Arial"/>
              </a:rPr>
              <a:t>ИИ-помощник</a:t>
            </a:r>
          </a:p>
          <a:p xmlns:a="http://schemas.openxmlformats.org/drawingml/2006/main">
            <a:pPr algn="l">
              <a:defRPr sz="2325" b="0">
                <a:solidFill>
                  <a:srgbClr val="BCCFC5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BCCFC5"/>
                </a:solidFill>
                <a:latin typeface="Arial"/>
                <a:ea typeface="Arial"/>
                <a:cs typeface="Arial"/>
              </a:rPr>
              <a:t>для коротких прогулок</a:t>
            </a:r>
          </a:p>
        </p:txBody>
      </p:sp>
      <p:sp>
        <p:nvSpPr>
          <p:cNvPr id="5" name="Build with AI 2026 · НИЦ Smart City">
            <a:extLst xmlns:a="http://schemas.openxmlformats.org/drawingml/2006/main">
              <a:ext uri="{FF2B5EF4-FFF2-40B4-BE49-F238E27FC236}">
                <a16:creationId xmlns:a16="http://schemas.microsoft.com/office/drawing/2014/main" id="{827620CE-0AF1-4770-ACD4-FD8AB8561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BCCFC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BCCFC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CCFC5"/>
                </a:solidFill>
                <a:latin typeface="Arial"/>
                <a:ea typeface="Arial"/>
                <a:cs typeface="Arial"/>
              </a:rPr>
              <a:t>Build with AI 2026 · НИЦ Smart City</a:t>
            </a:r>
          </a:p>
        </p:txBody>
      </p:sp>
      <p:sp>
        <p:nvSpPr>
          <p:cNvPr id="6" name="01">
            <a:extLst xmlns:a="http://schemas.openxmlformats.org/drawingml/2006/main">
              <a:ext uri="{FF2B5EF4-FFF2-40B4-BE49-F238E27FC236}">
                <a16:creationId xmlns:a16="http://schemas.microsoft.com/office/drawing/2014/main" id="{CB21B2B1-1538-47D1-B819-F88B9B4F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3722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BCCFC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BCCFC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CCFC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© OpenStreetMap contributors">
            <a:extLst xmlns:a="http://schemas.openxmlformats.org/drawingml/2006/main">
              <a:ext uri="{FF2B5EF4-FFF2-40B4-BE49-F238E27FC236}">
                <a16:creationId xmlns:a16="http://schemas.microsoft.com/office/drawing/2014/main" id="{DF22274A-33A3-4F1E-8905-B3DF0906C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64389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17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73D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D35"/>
                </a:solidFill>
                <a:latin typeface="Arial"/>
                <a:ea typeface="Arial"/>
                <a:cs typeface="Arial"/>
              </a:rPr>
              <a:t>© OpenStreetMap contributors</a:t>
            </a:r>
          </a:p>
        </p:txBody>
      </p:sp>
    </p:spTree>
    <p:extLst>
      <p:ext uri="{BB962C8B-B14F-4D97-AF65-F5344CB8AC3E}">
        <p14:creationId xmlns:p14="http://schemas.microsoft.com/office/powerpoint/2010/main" val="6578377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2F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40EAF9-BA5C-4705-BCB4-69776A277F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5c9358d7cd4394"/>
          <a:srcRect xmlns:a="http://schemas.openxmlformats.org/drawingml/2006/main" l="18021" t="0" r="1802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43650" y="0"/>
            <a:ext cx="58483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30–60">
            <a:extLst xmlns:a="http://schemas.openxmlformats.org/drawingml/2006/main">
              <a:ext uri="{FF2B5EF4-FFF2-40B4-BE49-F238E27FC236}">
                <a16:creationId xmlns:a16="http://schemas.microsoft.com/office/drawing/2014/main" id="{09BEACB3-F63E-4F0C-9C86-8254F430A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581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050" b="1">
                <a:solidFill>
                  <a:srgbClr val="D8FA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50" b="1">
                <a:solidFill>
                  <a:srgbClr val="D8FA6B"/>
                </a:solidFill>
                <a:latin typeface="Arial"/>
                <a:ea typeface="Arial"/>
                <a:cs typeface="Arial"/>
              </a:defRPr>
            </a:pPr>
            <a:r>
              <a:rPr sz="10050" b="1">
                <a:solidFill>
                  <a:srgbClr val="D8FA6B"/>
                </a:solidFill>
                <a:latin typeface="Arial"/>
                <a:ea typeface="Arial"/>
                <a:cs typeface="Arial"/>
              </a:rPr>
              <a:t>30–60</a:t>
            </a:r>
          </a:p>
        </p:txBody>
      </p:sp>
      <p:sp>
        <p:nvSpPr>
          <p:cNvPr id="3" name="минут между делами">
            <a:extLst xmlns:a="http://schemas.openxmlformats.org/drawingml/2006/main">
              <a:ext uri="{FF2B5EF4-FFF2-40B4-BE49-F238E27FC236}">
                <a16:creationId xmlns:a16="http://schemas.microsoft.com/office/drawing/2014/main" id="{E7859E20-3171-4251-8059-3A13F5D90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95550"/>
            <a:ext cx="5429250" cy="149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минут</a:t>
            </a:r>
          </a:p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между делами</a:t>
            </a:r>
          </a:p>
        </p:txBody>
      </p:sp>
      <p:sp>
        <p:nvSpPr>
          <p:cNvPr id="4" name="Для жителей и гостей Астаны">
            <a:extLst xmlns:a="http://schemas.openxmlformats.org/drawingml/2006/main">
              <a:ext uri="{FF2B5EF4-FFF2-40B4-BE49-F238E27FC236}">
                <a16:creationId xmlns:a16="http://schemas.microsoft.com/office/drawing/2014/main" id="{CAF8C3F7-555A-4381-AF85-F9D945198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514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Для жителей и гостей Астаны</a:t>
            </a:r>
          </a:p>
        </p:txBody>
      </p:sp>
      <p:sp>
        <p:nvSpPr>
          <p:cNvPr id="5" name="Кофе. Прогулка. Возврат учтён в плане.">
            <a:extLst xmlns:a="http://schemas.openxmlformats.org/drawingml/2006/main">
              <a:ext uri="{FF2B5EF4-FFF2-40B4-BE49-F238E27FC236}">
                <a16:creationId xmlns:a16="http://schemas.microsoft.com/office/drawing/2014/main" id="{6756142F-AC00-453F-8ADC-8950ED46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495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0">
                <a:solidFill>
                  <a:srgbClr val="BCCFC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BCCFC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CCFC5"/>
                </a:solidFill>
                <a:latin typeface="Arial"/>
                <a:ea typeface="Arial"/>
                <a:cs typeface="Arial"/>
              </a:rPr>
              <a:t>Кофе. Прогулка.</a:t>
            </a:r>
          </a:p>
          <a:p xmlns:a="http://schemas.openxmlformats.org/drawingml/2006/main">
            <a:pPr algn="l">
              <a:defRPr sz="1875" b="0">
                <a:solidFill>
                  <a:srgbClr val="BCCFC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CCFC5"/>
                </a:solidFill>
                <a:latin typeface="Arial"/>
                <a:ea typeface="Arial"/>
                <a:cs typeface="Arial"/>
              </a:rPr>
              <a:t>Возврат учтён в плане.</a:t>
            </a:r>
          </a:p>
        </p:txBody>
      </p:sp>
      <p:sp>
        <p:nvSpPr>
          <p:cNvPr id="6" name="02">
            <a:extLst xmlns:a="http://schemas.openxmlformats.org/drawingml/2006/main">
              <a:ext uri="{FF2B5EF4-FFF2-40B4-BE49-F238E27FC236}">
                <a16:creationId xmlns:a16="http://schemas.microsoft.com/office/drawing/2014/main" id="{6B98E2EC-50A1-42D3-B811-6324EBB7E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3722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BCCFC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BCCFC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CCFC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788892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Ваши условия в одном запросе">
            <a:extLst xmlns:a="http://schemas.openxmlformats.org/drawingml/2006/main">
              <a:ext uri="{FF2B5EF4-FFF2-40B4-BE49-F238E27FC236}">
                <a16:creationId xmlns:a16="http://schemas.microsoft.com/office/drawing/2014/main" id="{BB261362-5389-4928-AC0C-313FA39E6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59055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4350" b="1">
                <a:solidFill>
                  <a:srgbClr val="17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350" b="1">
                <a:solidFill>
                  <a:srgbClr val="173D35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73D35"/>
                </a:solidFill>
                <a:latin typeface="Arial"/>
                <a:ea typeface="Arial"/>
                <a:cs typeface="Arial"/>
              </a:rPr>
              <a:t>Ваши условия</a:t>
            </a:r>
          </a:p>
          <a:p xmlns:a="http://schemas.openxmlformats.org/drawingml/2006/main">
            <a:pPr algn="l">
              <a:defRPr sz="4350" b="1">
                <a:solidFill>
                  <a:srgbClr val="173D35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73D35"/>
                </a:solidFill>
                <a:latin typeface="Arial"/>
                <a:ea typeface="Arial"/>
                <a:cs typeface="Arial"/>
              </a:rPr>
              <a:t>в одном запросе</a:t>
            </a:r>
          </a:p>
        </p:txBody>
      </p:sp>
      <p:sp>
        <p:nvSpPr>
          <p:cNvPr id="2" name="Старт и доступное время">
            <a:extLst xmlns:a="http://schemas.openxmlformats.org/drawingml/2006/main">
              <a:ext uri="{FF2B5EF4-FFF2-40B4-BE49-F238E27FC236}">
                <a16:creationId xmlns:a16="http://schemas.microsoft.com/office/drawing/2014/main" id="{803D4E55-3752-4B12-BAF7-8AB429FCF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47950"/>
            <a:ext cx="5381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400" b="1">
                <a:solidFill>
                  <a:srgbClr val="096B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96B5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96B5B"/>
                </a:solidFill>
                <a:latin typeface="Arial"/>
                <a:ea typeface="Arial"/>
                <a:cs typeface="Arial"/>
              </a:rPr>
              <a:t>Старт и доступное время</a:t>
            </a:r>
          </a:p>
        </p:txBody>
      </p:sp>
      <p:sp>
        <p:nvSpPr>
          <p:cNvPr id="3" name="Обязательные этапы и возврат к старту">
            <a:extLst xmlns:a="http://schemas.openxmlformats.org/drawingml/2006/main">
              <a:ext uri="{FF2B5EF4-FFF2-40B4-BE49-F238E27FC236}">
                <a16:creationId xmlns:a16="http://schemas.microsoft.com/office/drawing/2014/main" id="{8B309683-82B9-48A7-BBCF-995BB2DC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6150"/>
            <a:ext cx="50958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475" b="0">
                <a:solidFill>
                  <a:srgbClr val="17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75" b="0">
                <a:solidFill>
                  <a:srgbClr val="173D35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73D35"/>
                </a:solidFill>
                <a:latin typeface="Arial"/>
                <a:ea typeface="Arial"/>
                <a:cs typeface="Arial"/>
              </a:rPr>
              <a:t>Обязательные этапы</a:t>
            </a:r>
          </a:p>
          <a:p xmlns:a="http://schemas.openxmlformats.org/drawingml/2006/main">
            <a:pPr algn="l">
              <a:defRPr sz="2475" b="0">
                <a:solidFill>
                  <a:srgbClr val="173D35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73D35"/>
                </a:solidFill>
                <a:latin typeface="Arial"/>
                <a:ea typeface="Arial"/>
                <a:cs typeface="Arial"/>
              </a:rPr>
              <a:t>и возврат к старту</a:t>
            </a:r>
          </a:p>
        </p:txBody>
      </p:sp>
      <p:sp>
        <p:nvSpPr>
          <p:cNvPr id="4" name="Явное время Астаны UTC+5">
            <a:extLst xmlns:a="http://schemas.openxmlformats.org/drawingml/2006/main">
              <a:ext uri="{FF2B5EF4-FFF2-40B4-BE49-F238E27FC236}">
                <a16:creationId xmlns:a16="http://schemas.microsoft.com/office/drawing/2014/main" id="{28E4D51B-97B8-4363-8BBE-E59000235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29200"/>
            <a:ext cx="5238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00" b="0">
                <a:solidFill>
                  <a:srgbClr val="5771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57716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77168"/>
                </a:solidFill>
                <a:latin typeface="Arial"/>
                <a:ea typeface="Arial"/>
                <a:cs typeface="Arial"/>
              </a:rPr>
              <a:t>Явное время Астаны UTC+5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F53F6A-D889-4488-B5BD-9AED76A347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6eda6f0f914524"/>
          <a:stretch xmlns:a="http://schemas.openxmlformats.org/drawingml/2006/main"/>
        </p:blipFill>
        <p:spPr>
          <a:xfrm xmlns:a="http://schemas.openxmlformats.org/drawingml/2006/main">
            <a:off x="6934598" y="609600"/>
            <a:ext cx="3999705" cy="5381625"/>
          </a:xfrm>
          <a:prstGeom xmlns:a="http://schemas.openxmlformats.org/drawingml/2006/main" prst="rect">
            <a:avLst/>
          </a:prstGeom>
        </p:spPr>
      </p:pic>
      <p:sp>
        <p:nvSpPr>
          <p:cNvPr id="6" name="03">
            <a:extLst xmlns:a="http://schemas.openxmlformats.org/drawingml/2006/main">
              <a:ext uri="{FF2B5EF4-FFF2-40B4-BE49-F238E27FC236}">
                <a16:creationId xmlns:a16="http://schemas.microsoft.com/office/drawing/2014/main" id="{38F4F5BE-B3A8-4686-B2B0-938ED6186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3722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5771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771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771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520714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2F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43">
            <a:extLst xmlns:a="http://schemas.openxmlformats.org/drawingml/2006/main">
              <a:ext uri="{FF2B5EF4-FFF2-40B4-BE49-F238E27FC236}">
                <a16:creationId xmlns:a16="http://schemas.microsoft.com/office/drawing/2014/main" id="{4DD3CE7F-2018-4B88-BB8E-6E0A1132C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4067175" cy="1933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350" b="1">
                <a:solidFill>
                  <a:srgbClr val="D8FA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350" b="1">
                <a:solidFill>
                  <a:srgbClr val="D8FA6B"/>
                </a:solidFill>
                <a:latin typeface="Arial"/>
                <a:ea typeface="Arial"/>
                <a:cs typeface="Arial"/>
              </a:defRPr>
            </a:pPr>
            <a:r>
              <a:rPr sz="13350" b="1">
                <a:solidFill>
                  <a:srgbClr val="D8FA6B"/>
                </a:solidFill>
                <a:latin typeface="Arial"/>
                <a:ea typeface="Arial"/>
                <a:cs typeface="Arial"/>
              </a:rPr>
              <a:t>43</a:t>
            </a:r>
          </a:p>
        </p:txBody>
      </p:sp>
      <p:sp>
        <p:nvSpPr>
          <p:cNvPr id="2" name="из 60 минут">
            <a:extLst xmlns:a="http://schemas.openxmlformats.org/drawingml/2006/main">
              <a:ext uri="{FF2B5EF4-FFF2-40B4-BE49-F238E27FC236}">
                <a16:creationId xmlns:a16="http://schemas.microsoft.com/office/drawing/2014/main" id="{4322CBC8-D818-4F31-A0C9-300AC728D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5486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из 60 минут</a:t>
            </a:r>
          </a:p>
        </p:txBody>
      </p:sp>
      <p:sp>
        <p:nvSpPr>
          <p:cNvPr id="3" name="Canele, затем Ботанический сад">
            <a:extLst xmlns:a="http://schemas.openxmlformats.org/drawingml/2006/main">
              <a:ext uri="{FF2B5EF4-FFF2-40B4-BE49-F238E27FC236}">
                <a16:creationId xmlns:a16="http://schemas.microsoft.com/office/drawing/2014/main" id="{2BD08109-A56B-403F-B58B-BD4B98D3F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24275"/>
            <a:ext cx="54959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Canele, затем Ботанический сад</a:t>
            </a:r>
          </a:p>
        </p:txBody>
      </p:sp>
      <p:sp>
        <p:nvSpPr>
          <p:cNvPr id="4" name="Возврат к старту учтён Резерв 5 минут">
            <a:extLst xmlns:a="http://schemas.openxmlformats.org/drawingml/2006/main">
              <a:ext uri="{FF2B5EF4-FFF2-40B4-BE49-F238E27FC236}">
                <a16:creationId xmlns:a16="http://schemas.microsoft.com/office/drawing/2014/main" id="{1E311A8F-802A-4021-BDCF-90223728B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52673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00" b="0">
                <a:solidFill>
                  <a:srgbClr val="BCCFC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BCCFC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CCFC5"/>
                </a:solidFill>
                <a:latin typeface="Arial"/>
                <a:ea typeface="Arial"/>
                <a:cs typeface="Arial"/>
              </a:rPr>
              <a:t>Возврат к старту учтён</a:t>
            </a:r>
          </a:p>
          <a:p xmlns:a="http://schemas.openxmlformats.org/drawingml/2006/main">
            <a:pPr algn="l">
              <a:defRPr sz="2100" b="0">
                <a:solidFill>
                  <a:srgbClr val="BCCFC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CCFC5"/>
                </a:solidFill>
                <a:latin typeface="Arial"/>
                <a:ea typeface="Arial"/>
                <a:cs typeface="Arial"/>
              </a:rPr>
              <a:t>Резерв 5 минут</a:t>
            </a:r>
          </a:p>
        </p:txBody>
      </p:sp>
      <p:sp>
        <p:nvSpPr>
          <p:cNvPr id="5" name="18 октября 2026, 12:00 · Астана UTC+5">
            <a:extLst xmlns:a="http://schemas.openxmlformats.org/drawingml/2006/main">
              <a:ext uri="{FF2B5EF4-FFF2-40B4-BE49-F238E27FC236}">
                <a16:creationId xmlns:a16="http://schemas.microsoft.com/office/drawing/2014/main" id="{631C940E-3316-476D-A617-FD8D14A04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546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BCCFC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BCCF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CCFC5"/>
                </a:solidFill>
                <a:latin typeface="Arial"/>
                <a:ea typeface="Arial"/>
                <a:cs typeface="Arial"/>
              </a:rPr>
              <a:t>18 октября 2026, 12:00 · Астана UTC+5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D78AB3-71DB-43F6-9B49-A8BBEF96E6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65119b7e7146c5"/>
          <a:stretch xmlns:a="http://schemas.openxmlformats.org/drawingml/2006/main"/>
        </p:blipFill>
        <p:spPr>
          <a:xfrm xmlns:a="http://schemas.openxmlformats.org/drawingml/2006/main">
            <a:off x="6669430" y="2190750"/>
            <a:ext cx="4853890" cy="4219575"/>
          </a:xfrm>
          <a:prstGeom xmlns:a="http://schemas.openxmlformats.org/drawingml/2006/main" prst="rect">
            <a:avLst/>
          </a:prstGeom>
        </p:spPr>
      </p:pic>
      <p:sp>
        <p:nvSpPr>
          <p:cNvPr id="7" name="Расчётная оценка времени">
            <a:extLst xmlns:a="http://schemas.openxmlformats.org/drawingml/2006/main">
              <a:ext uri="{FF2B5EF4-FFF2-40B4-BE49-F238E27FC236}">
                <a16:creationId xmlns:a16="http://schemas.microsoft.com/office/drawing/2014/main" id="{7528F692-05F5-4CF6-90DD-6E7900277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542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0">
                <a:solidFill>
                  <a:srgbClr val="BCCFC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BCCFC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CCFC5"/>
                </a:solidFill>
                <a:latin typeface="Arial"/>
                <a:ea typeface="Arial"/>
                <a:cs typeface="Arial"/>
              </a:rPr>
              <a:t>Расчётная оценка времени</a:t>
            </a:r>
          </a:p>
        </p:txBody>
      </p:sp>
      <p:sp>
        <p:nvSpPr>
          <p:cNvPr id="8" name="04">
            <a:extLst xmlns:a="http://schemas.openxmlformats.org/drawingml/2006/main">
              <a:ext uri="{FF2B5EF4-FFF2-40B4-BE49-F238E27FC236}">
                <a16:creationId xmlns:a16="http://schemas.microsoft.com/office/drawing/2014/main" id="{AF5ED53A-AB87-4CDB-A46A-FF7014122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3722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BCCFC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BCCFC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CCFC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649953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2F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План вокруг вашего лимита">
            <a:extLst xmlns:a="http://schemas.openxmlformats.org/drawingml/2006/main">
              <a:ext uri="{FF2B5EF4-FFF2-40B4-BE49-F238E27FC236}">
                <a16:creationId xmlns:a16="http://schemas.microsoft.com/office/drawing/2014/main" id="{702E9690-A446-416D-A8ED-37FA38D51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477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План вокруг</a:t>
            </a:r>
          </a:p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вашего лимита</a:t>
            </a:r>
          </a:p>
        </p:txBody>
      </p:sp>
      <p:sp>
        <p:nvSpPr>
          <p:cNvPr id="2" name="Ваш запрос">
            <a:extLst xmlns:a="http://schemas.openxmlformats.org/drawingml/2006/main">
              <a:ext uri="{FF2B5EF4-FFF2-40B4-BE49-F238E27FC236}">
                <a16:creationId xmlns:a16="http://schemas.microsoft.com/office/drawing/2014/main" id="{9E9E6087-21D6-4033-8365-23207C4E5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71775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0">
                <a:solidFill>
                  <a:srgbClr val="BCCFC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BCCFC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CCFC5"/>
                </a:solidFill>
                <a:latin typeface="Arial"/>
                <a:ea typeface="Arial"/>
                <a:cs typeface="Arial"/>
              </a:rPr>
              <a:t>Ваш запрос</a:t>
            </a:r>
          </a:p>
        </p:txBody>
      </p:sp>
      <p:sp>
        <p:nvSpPr>
          <p:cNvPr id="3" name="60 минут Кофе, затем парк Вернуться к старту">
            <a:extLst xmlns:a="http://schemas.openxmlformats.org/drawingml/2006/main">
              <a:ext uri="{FF2B5EF4-FFF2-40B4-BE49-F238E27FC236}">
                <a16:creationId xmlns:a16="http://schemas.microsoft.com/office/drawing/2014/main" id="{10E93ADB-3C9E-4419-ABE1-FE364B976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00425"/>
            <a:ext cx="5381625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60 минут</a:t>
            </a:r>
          </a:p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Кофе, затем парк</a:t>
            </a:r>
          </a:p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Вернуться к старту</a:t>
            </a:r>
          </a:p>
        </p:txBody>
      </p:sp>
      <p:sp>
        <p:nvSpPr>
          <p:cNvPr id="4" name="Ответ Spot">
            <a:extLst xmlns:a="http://schemas.openxmlformats.org/drawingml/2006/main">
              <a:ext uri="{FF2B5EF4-FFF2-40B4-BE49-F238E27FC236}">
                <a16:creationId xmlns:a16="http://schemas.microsoft.com/office/drawing/2014/main" id="{8984B46E-2AEE-4565-8F47-4A8685327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71775"/>
            <a:ext cx="457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0">
                <a:solidFill>
                  <a:srgbClr val="BCCFC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BCCFC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CCFC5"/>
                </a:solidFill>
                <a:latin typeface="Arial"/>
                <a:ea typeface="Arial"/>
                <a:cs typeface="Arial"/>
              </a:rPr>
              <a:t>Ответ Spot</a:t>
            </a:r>
          </a:p>
        </p:txBody>
      </p:sp>
      <p:sp>
        <p:nvSpPr>
          <p:cNvPr id="5" name="Оба этапа в плане Общая оценка времени Объяснение и источники">
            <a:extLst xmlns:a="http://schemas.openxmlformats.org/drawingml/2006/main">
              <a:ext uri="{FF2B5EF4-FFF2-40B4-BE49-F238E27FC236}">
                <a16:creationId xmlns:a16="http://schemas.microsoft.com/office/drawing/2014/main" id="{AF1F6714-890B-454B-A870-ED22AC817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00425"/>
            <a:ext cx="45910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475" b="1">
                <a:solidFill>
                  <a:srgbClr val="D8FA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D8FA6B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D8FA6B"/>
                </a:solidFill>
                <a:latin typeface="Arial"/>
                <a:ea typeface="Arial"/>
                <a:cs typeface="Arial"/>
              </a:rPr>
              <a:t>Оба этапа в плане</a:t>
            </a:r>
          </a:p>
          <a:p xmlns:a="http://schemas.openxmlformats.org/drawingml/2006/main">
            <a:pPr algn="l">
              <a:defRPr sz="2475" b="1">
                <a:solidFill>
                  <a:srgbClr val="D8FA6B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D8FA6B"/>
                </a:solidFill>
                <a:latin typeface="Arial"/>
                <a:ea typeface="Arial"/>
                <a:cs typeface="Arial"/>
              </a:rPr>
              <a:t>Общая оценка времени</a:t>
            </a:r>
          </a:p>
          <a:p xmlns:a="http://schemas.openxmlformats.org/drawingml/2006/main">
            <a:pPr algn="l">
              <a:defRPr sz="2475" b="1">
                <a:solidFill>
                  <a:srgbClr val="D8FA6B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D8FA6B"/>
                </a:solidFill>
                <a:latin typeface="Arial"/>
                <a:ea typeface="Arial"/>
                <a:cs typeface="Arial"/>
              </a:rPr>
              <a:t>Объяснение и источники</a:t>
            </a:r>
          </a:p>
        </p:txBody>
      </p:sp>
      <p:sp>
        <p:nvSpPr>
          <p:cNvPr id="6" name="Google Maps доступен для внешней проверки места">
            <a:extLst xmlns:a="http://schemas.openxmlformats.org/drawingml/2006/main">
              <a:ext uri="{FF2B5EF4-FFF2-40B4-BE49-F238E27FC236}">
                <a16:creationId xmlns:a16="http://schemas.microsoft.com/office/drawing/2014/main" id="{379E11CC-D41C-41E4-ACC3-E5AE93899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0">
                <a:solidFill>
                  <a:srgbClr val="BCCFC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BCCFC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CCFC5"/>
                </a:solidFill>
                <a:latin typeface="Arial"/>
                <a:ea typeface="Arial"/>
                <a:cs typeface="Arial"/>
              </a:rPr>
              <a:t>Google Maps доступен для внешней проверки места</a:t>
            </a:r>
          </a:p>
        </p:txBody>
      </p:sp>
      <p:sp>
        <p:nvSpPr>
          <p:cNvPr id="7" name="05">
            <a:extLst xmlns:a="http://schemas.openxmlformats.org/drawingml/2006/main">
              <a:ext uri="{FF2B5EF4-FFF2-40B4-BE49-F238E27FC236}">
                <a16:creationId xmlns:a16="http://schemas.microsoft.com/office/drawing/2014/main" id="{94E76C83-33D5-4962-B147-6122AD0AF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3722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BCCFC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BCCFC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CCFC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005780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2F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AG на городских источниках">
            <a:extLst xmlns:a="http://schemas.openxmlformats.org/drawingml/2006/main">
              <a:ext uri="{FF2B5EF4-FFF2-40B4-BE49-F238E27FC236}">
                <a16:creationId xmlns:a16="http://schemas.microsoft.com/office/drawing/2014/main" id="{6EBD8A4A-490A-46E8-AFDE-799AE229A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9525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RAG на городских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источниках</a:t>
            </a:r>
          </a:p>
        </p:txBody>
      </p:sp>
      <p:sp>
        <p:nvSpPr>
          <p:cNvPr id="2" name="01">
            <a:extLst xmlns:a="http://schemas.openxmlformats.org/drawingml/2006/main">
              <a:ext uri="{FF2B5EF4-FFF2-40B4-BE49-F238E27FC236}">
                <a16:creationId xmlns:a16="http://schemas.microsoft.com/office/drawing/2014/main" id="{F972CD18-9179-434E-8A09-4C5CD3CB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52725"/>
            <a:ext cx="236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300" b="1">
                <a:solidFill>
                  <a:srgbClr val="D8FA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D8FA6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D8FA6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Городские данные">
            <a:extLst xmlns:a="http://schemas.openxmlformats.org/drawingml/2006/main">
              <a:ext uri="{FF2B5EF4-FFF2-40B4-BE49-F238E27FC236}">
                <a16:creationId xmlns:a16="http://schemas.microsoft.com/office/drawing/2014/main" id="{D8829BB0-CE6A-4016-B151-0548344F4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14750"/>
            <a:ext cx="2400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Городские данные</a:t>
            </a:r>
          </a:p>
        </p:txBody>
      </p:sp>
      <p:sp>
        <p:nvSpPr>
          <p:cNvPr id="4" name="Автоимпорт OpenStreetMap">
            <a:extLst xmlns:a="http://schemas.openxmlformats.org/drawingml/2006/main">
              <a:ext uri="{FF2B5EF4-FFF2-40B4-BE49-F238E27FC236}">
                <a16:creationId xmlns:a16="http://schemas.microsoft.com/office/drawing/2014/main" id="{19BF184B-BEF2-46D1-92B5-AA5218F77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0"/>
            <a:ext cx="24003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0">
                <a:solidFill>
                  <a:srgbClr val="BCCFC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BCCFC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CCFC5"/>
                </a:solidFill>
                <a:latin typeface="Arial"/>
                <a:ea typeface="Arial"/>
                <a:cs typeface="Arial"/>
              </a:rPr>
              <a:t>Автоимпорт OpenStreetMap</a:t>
            </a:r>
          </a:p>
        </p:txBody>
      </p:sp>
      <p:sp>
        <p:nvSpPr>
          <p:cNvPr id="5" name="02">
            <a:extLst xmlns:a="http://schemas.openxmlformats.org/drawingml/2006/main">
              <a:ext uri="{FF2B5EF4-FFF2-40B4-BE49-F238E27FC236}">
                <a16:creationId xmlns:a16="http://schemas.microsoft.com/office/drawing/2014/main" id="{819D0599-93BF-45DE-9AB4-6C741EEA3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752725"/>
            <a:ext cx="236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300" b="1">
                <a:solidFill>
                  <a:srgbClr val="D8FA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D8FA6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D8FA6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Поиск кандидатов">
            <a:extLst xmlns:a="http://schemas.openxmlformats.org/drawingml/2006/main">
              <a:ext uri="{FF2B5EF4-FFF2-40B4-BE49-F238E27FC236}">
                <a16:creationId xmlns:a16="http://schemas.microsoft.com/office/drawing/2014/main" id="{78F4811D-B4DE-4336-9F77-121EBAC83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714750"/>
            <a:ext cx="2400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Поиск кандидатов</a:t>
            </a:r>
          </a:p>
        </p:txBody>
      </p:sp>
      <p:sp>
        <p:nvSpPr>
          <p:cNvPr id="7" name="География, текст и векторы">
            <a:extLst xmlns:a="http://schemas.openxmlformats.org/drawingml/2006/main">
              <a:ext uri="{FF2B5EF4-FFF2-40B4-BE49-F238E27FC236}">
                <a16:creationId xmlns:a16="http://schemas.microsoft.com/office/drawing/2014/main" id="{0E9891CD-053F-4D8B-8836-A4C913376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762500"/>
            <a:ext cx="24003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0">
                <a:solidFill>
                  <a:srgbClr val="BCCFC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BCCFC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CCFC5"/>
                </a:solidFill>
                <a:latin typeface="Arial"/>
                <a:ea typeface="Arial"/>
                <a:cs typeface="Arial"/>
              </a:rPr>
              <a:t>География, текст и векторы</a:t>
            </a:r>
          </a:p>
        </p:txBody>
      </p:sp>
      <p:sp>
        <p:nvSpPr>
          <p:cNvPr id="8" name="03">
            <a:extLst xmlns:a="http://schemas.openxmlformats.org/drawingml/2006/main">
              <a:ext uri="{FF2B5EF4-FFF2-40B4-BE49-F238E27FC236}">
                <a16:creationId xmlns:a16="http://schemas.microsoft.com/office/drawing/2014/main" id="{29F245EB-C44A-43D0-A89F-E37AC7312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52725"/>
            <a:ext cx="236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300" b="1">
                <a:solidFill>
                  <a:srgbClr val="D8FA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D8FA6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D8FA6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Локальная Qwen">
            <a:extLst xmlns:a="http://schemas.openxmlformats.org/drawingml/2006/main">
              <a:ext uri="{FF2B5EF4-FFF2-40B4-BE49-F238E27FC236}">
                <a16:creationId xmlns:a16="http://schemas.microsoft.com/office/drawing/2014/main" id="{F6754909-B551-47E0-96E0-0F95BB652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14750"/>
            <a:ext cx="2400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Локальная Qwen</a:t>
            </a:r>
          </a:p>
        </p:txBody>
      </p:sp>
      <p:sp>
        <p:nvSpPr>
          <p:cNvPr id="10" name="Выбор номеров из найденного">
            <a:extLst xmlns:a="http://schemas.openxmlformats.org/drawingml/2006/main">
              <a:ext uri="{FF2B5EF4-FFF2-40B4-BE49-F238E27FC236}">
                <a16:creationId xmlns:a16="http://schemas.microsoft.com/office/drawing/2014/main" id="{E99B98BC-DB15-4C6E-83D8-8016C1C41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62500"/>
            <a:ext cx="24003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0">
                <a:solidFill>
                  <a:srgbClr val="BCCFC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BCCFC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CCFC5"/>
                </a:solidFill>
                <a:latin typeface="Arial"/>
                <a:ea typeface="Arial"/>
                <a:cs typeface="Arial"/>
              </a:rPr>
              <a:t>Выбор номеров из найденного</a:t>
            </a:r>
          </a:p>
        </p:txBody>
      </p:sp>
      <p:sp>
        <p:nvSpPr>
          <p:cNvPr id="11" name="04">
            <a:extLst xmlns:a="http://schemas.openxmlformats.org/drawingml/2006/main">
              <a:ext uri="{FF2B5EF4-FFF2-40B4-BE49-F238E27FC236}">
                <a16:creationId xmlns:a16="http://schemas.microsoft.com/office/drawing/2014/main" id="{189309AE-32C2-4488-BFB7-A69A0F08F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752725"/>
            <a:ext cx="236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300" b="1">
                <a:solidFill>
                  <a:srgbClr val="D8FA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D8FA6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D8FA6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2" name="Проверки сервера">
            <a:extLst xmlns:a="http://schemas.openxmlformats.org/drawingml/2006/main">
              <a:ext uri="{FF2B5EF4-FFF2-40B4-BE49-F238E27FC236}">
                <a16:creationId xmlns:a16="http://schemas.microsoft.com/office/drawing/2014/main" id="{D5E2A259-03D2-4E29-90D8-074471D45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714750"/>
            <a:ext cx="2400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Проверки сервера</a:t>
            </a:r>
          </a:p>
        </p:txBody>
      </p:sp>
      <p:sp>
        <p:nvSpPr>
          <p:cNvPr id="13" name="ID, факты, этапы и walking-время">
            <a:extLst xmlns:a="http://schemas.openxmlformats.org/drawingml/2006/main">
              <a:ext uri="{FF2B5EF4-FFF2-40B4-BE49-F238E27FC236}">
                <a16:creationId xmlns:a16="http://schemas.microsoft.com/office/drawing/2014/main" id="{03EA8208-9FEB-4A34-BE11-52D5C00A4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762500"/>
            <a:ext cx="24003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0">
                <a:solidFill>
                  <a:srgbClr val="BCCFC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BCCFC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CCFC5"/>
                </a:solidFill>
                <a:latin typeface="Arial"/>
                <a:ea typeface="Arial"/>
                <a:cs typeface="Arial"/>
              </a:rPr>
              <a:t>ID, факты, этапы и walking-время</a:t>
            </a:r>
          </a:p>
        </p:txBody>
      </p:sp>
      <p:sp>
        <p:nvSpPr>
          <p:cNvPr id="14" name="2 165 мест доступны поиску · Веса модели не обучались">
            <a:extLst xmlns:a="http://schemas.openxmlformats.org/drawingml/2006/main">
              <a:ext uri="{FF2B5EF4-FFF2-40B4-BE49-F238E27FC236}">
                <a16:creationId xmlns:a16="http://schemas.microsoft.com/office/drawing/2014/main" id="{DF8CE39F-0D18-45E0-BBE2-C485A59D5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29325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0">
                <a:solidFill>
                  <a:srgbClr val="BCCFC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BCCFC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CCFC5"/>
                </a:solidFill>
                <a:latin typeface="Arial"/>
                <a:ea typeface="Arial"/>
                <a:cs typeface="Arial"/>
              </a:rPr>
              <a:t>2 165 мест доступны поиску · Веса модели не обучались</a:t>
            </a:r>
          </a:p>
        </p:txBody>
      </p:sp>
      <p:sp>
        <p:nvSpPr>
          <p:cNvPr id="15" name="06">
            <a:extLst xmlns:a="http://schemas.openxmlformats.org/drawingml/2006/main">
              <a:ext uri="{FF2B5EF4-FFF2-40B4-BE49-F238E27FC236}">
                <a16:creationId xmlns:a16="http://schemas.microsoft.com/office/drawing/2014/main" id="{25B090D8-085C-4356-865A-652780302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3722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BCCFC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BCCFC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CCFC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848303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2F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Гипотеза следующего этапа">
            <a:extLst xmlns:a="http://schemas.openxmlformats.org/drawingml/2006/main">
              <a:ext uri="{FF2B5EF4-FFF2-40B4-BE49-F238E27FC236}">
                <a16:creationId xmlns:a16="http://schemas.microsoft.com/office/drawing/2014/main" id="{80C59630-F867-41AE-9DB9-F6840D883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1025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950" b="0">
                <a:solidFill>
                  <a:srgbClr val="BCCFC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CCFC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CCFC5"/>
                </a:solidFill>
                <a:latin typeface="Arial"/>
                <a:ea typeface="Arial"/>
                <a:cs typeface="Arial"/>
              </a:rPr>
              <a:t>Гипотеза следующего этапа</a:t>
            </a:r>
          </a:p>
        </p:txBody>
      </p:sp>
      <p:sp>
        <p:nvSpPr>
          <p:cNvPr id="2" name="Виджет прогулки для гостя">
            <a:extLst xmlns:a="http://schemas.openxmlformats.org/drawingml/2006/main">
              <a:ext uri="{FF2B5EF4-FFF2-40B4-BE49-F238E27FC236}">
                <a16:creationId xmlns:a16="http://schemas.microsoft.com/office/drawing/2014/main" id="{42EE50D8-4516-4C9E-83AB-758AA2B8C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47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Виджет прогулки</a:t>
            </a:r>
          </a:p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для гостя</a:t>
            </a:r>
          </a:p>
        </p:txBody>
      </p:sp>
      <p:sp>
        <p:nvSpPr>
          <p:cNvPr id="3" name="Отель или коворкинг">
            <a:extLst xmlns:a="http://schemas.openxmlformats.org/drawingml/2006/main">
              <a:ext uri="{FF2B5EF4-FFF2-40B4-BE49-F238E27FC236}">
                <a16:creationId xmlns:a16="http://schemas.microsoft.com/office/drawing/2014/main" id="{7EF2787F-198B-4442-A346-CB283A015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000" b="1">
                <a:solidFill>
                  <a:srgbClr val="D8FA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D8FA6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D8FA6B"/>
                </a:solidFill>
                <a:latin typeface="Arial"/>
                <a:ea typeface="Arial"/>
                <a:cs typeface="Arial"/>
              </a:rPr>
              <a:t>Отель или коворкинг</a:t>
            </a:r>
          </a:p>
        </p:txBody>
      </p:sp>
      <p:sp>
        <p:nvSpPr>
          <p:cNvPr id="4" name="Короткий план рядом до следующей встречи или выезда">
            <a:extLst xmlns:a="http://schemas.openxmlformats.org/drawingml/2006/main">
              <a:ext uri="{FF2B5EF4-FFF2-40B4-BE49-F238E27FC236}">
                <a16:creationId xmlns:a16="http://schemas.microsoft.com/office/drawing/2014/main" id="{E02E633A-BB25-4950-92A5-5F8885B7E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43425"/>
            <a:ext cx="1028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Короткий план рядом</a:t>
            </a:r>
          </a:p>
          <a:p xmlns:a="http://schemas.openxmlformats.org/drawingml/2006/main">
            <a:pPr algn="l"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до следующей встречи или выезда</a:t>
            </a:r>
          </a:p>
        </p:txBody>
      </p:sp>
      <p:sp>
        <p:nvSpPr>
          <p:cNvPr id="5" name="Без рекламы в ранжировании">
            <a:extLst xmlns:a="http://schemas.openxmlformats.org/drawingml/2006/main">
              <a:ext uri="{FF2B5EF4-FFF2-40B4-BE49-F238E27FC236}">
                <a16:creationId xmlns:a16="http://schemas.microsoft.com/office/drawing/2014/main" id="{640EAE21-8370-4F1E-88D4-469E390CF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0">
                <a:solidFill>
                  <a:srgbClr val="BCCFC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BCCFC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CCFC5"/>
                </a:solidFill>
                <a:latin typeface="Arial"/>
                <a:ea typeface="Arial"/>
                <a:cs typeface="Arial"/>
              </a:rPr>
              <a:t>Без рекламы в ранжировании</a:t>
            </a:r>
          </a:p>
        </p:txBody>
      </p:sp>
      <p:sp>
        <p:nvSpPr>
          <p:cNvPr id="6" name="07">
            <a:extLst xmlns:a="http://schemas.openxmlformats.org/drawingml/2006/main">
              <a:ext uri="{FF2B5EF4-FFF2-40B4-BE49-F238E27FC236}">
                <a16:creationId xmlns:a16="http://schemas.microsoft.com/office/drawing/2014/main" id="{084BD96F-EFAA-44DA-99D9-75E8E730A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3722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BCCFC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BCCFC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CCFC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389398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Приватность и источники">
            <a:extLst xmlns:a="http://schemas.openxmlformats.org/drawingml/2006/main">
              <a:ext uri="{FF2B5EF4-FFF2-40B4-BE49-F238E27FC236}">
                <a16:creationId xmlns:a16="http://schemas.microsoft.com/office/drawing/2014/main" id="{DB16FAB6-53B6-435B-84F3-C38DD9295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61912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4425" b="1">
                <a:solidFill>
                  <a:srgbClr val="17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425" b="1">
                <a:solidFill>
                  <a:srgbClr val="173D35"/>
                </a:solidFill>
                <a:latin typeface="Arial"/>
                <a:ea typeface="Arial"/>
                <a:cs typeface="Arial"/>
              </a:defRPr>
            </a:pPr>
            <a:r>
              <a:rPr sz="4425" b="1">
                <a:solidFill>
                  <a:srgbClr val="173D35"/>
                </a:solidFill>
                <a:latin typeface="Arial"/>
                <a:ea typeface="Arial"/>
                <a:cs typeface="Arial"/>
              </a:rPr>
              <a:t>Приватность</a:t>
            </a:r>
          </a:p>
          <a:p xmlns:a="http://schemas.openxmlformats.org/drawingml/2006/main">
            <a:pPr algn="l">
              <a:defRPr sz="4425" b="1">
                <a:solidFill>
                  <a:srgbClr val="173D35"/>
                </a:solidFill>
                <a:latin typeface="Arial"/>
                <a:ea typeface="Arial"/>
                <a:cs typeface="Arial"/>
              </a:defRPr>
            </a:pPr>
            <a:r>
              <a:rPr sz="4425" b="1">
                <a:solidFill>
                  <a:srgbClr val="173D35"/>
                </a:solidFill>
                <a:latin typeface="Arial"/>
                <a:ea typeface="Arial"/>
                <a:cs typeface="Arial"/>
              </a:rPr>
              <a:t>и источники</a:t>
            </a:r>
          </a:p>
        </p:txBody>
      </p:sp>
      <p:sp>
        <p:nvSpPr>
          <p:cNvPr id="2" name="Геолокация по действию">
            <a:extLst xmlns:a="http://schemas.openxmlformats.org/drawingml/2006/main">
              <a:ext uri="{FF2B5EF4-FFF2-40B4-BE49-F238E27FC236}">
                <a16:creationId xmlns:a16="http://schemas.microsoft.com/office/drawing/2014/main" id="{61A18F61-6874-4AC1-B6D7-E0FEDF23B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00350"/>
            <a:ext cx="552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400" b="1">
                <a:solidFill>
                  <a:srgbClr val="096B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96B5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96B5B"/>
                </a:solidFill>
                <a:latin typeface="Arial"/>
                <a:ea typeface="Arial"/>
                <a:cs typeface="Arial"/>
              </a:rPr>
              <a:t>Геолокация по действию</a:t>
            </a:r>
          </a:p>
        </p:txBody>
      </p:sp>
      <p:sp>
        <p:nvSpPr>
          <p:cNvPr id="3" name="Нет истории перемещений в БД и localStorage">
            <a:extLst xmlns:a="http://schemas.openxmlformats.org/drawingml/2006/main">
              <a:ext uri="{FF2B5EF4-FFF2-40B4-BE49-F238E27FC236}">
                <a16:creationId xmlns:a16="http://schemas.microsoft.com/office/drawing/2014/main" id="{01968FAF-A449-4732-A4F5-5EA97C39B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38550"/>
            <a:ext cx="53911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0">
                <a:solidFill>
                  <a:srgbClr val="17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173D35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3D35"/>
                </a:solidFill>
                <a:latin typeface="Arial"/>
                <a:ea typeface="Arial"/>
                <a:cs typeface="Arial"/>
              </a:rPr>
              <a:t>Нет истории перемещений</a:t>
            </a:r>
          </a:p>
          <a:p xmlns:a="http://schemas.openxmlformats.org/drawingml/2006/main">
            <a:pPr algn="l">
              <a:defRPr sz="2325" b="0">
                <a:solidFill>
                  <a:srgbClr val="173D35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3D35"/>
                </a:solidFill>
                <a:latin typeface="Arial"/>
                <a:ea typeface="Arial"/>
                <a:cs typeface="Arial"/>
              </a:rPr>
              <a:t>в БД и localStorage</a:t>
            </a:r>
          </a:p>
        </p:txBody>
      </p:sp>
      <p:sp>
        <p:nvSpPr>
          <p:cNvPr id="4" name="Внешние сервисы и неизвестные данные видны пользователю">
            <a:extLst xmlns:a="http://schemas.openxmlformats.org/drawingml/2006/main">
              <a:ext uri="{FF2B5EF4-FFF2-40B4-BE49-F238E27FC236}">
                <a16:creationId xmlns:a16="http://schemas.microsoft.com/office/drawing/2014/main" id="{6A060C2C-ACCD-4A33-B5D2-2B897AC8C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67300"/>
            <a:ext cx="5638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025" b="0">
                <a:solidFill>
                  <a:srgbClr val="5771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7716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77168"/>
                </a:solidFill>
                <a:latin typeface="Arial"/>
                <a:ea typeface="Arial"/>
                <a:cs typeface="Arial"/>
              </a:rPr>
              <a:t>Внешние сервисы и неизвестные</a:t>
            </a:r>
          </a:p>
          <a:p xmlns:a="http://schemas.openxmlformats.org/drawingml/2006/main">
            <a:pPr algn="l">
              <a:defRPr sz="2025" b="0">
                <a:solidFill>
                  <a:srgbClr val="57716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77168"/>
                </a:solidFill>
                <a:latin typeface="Arial"/>
                <a:ea typeface="Arial"/>
                <a:cs typeface="Arial"/>
              </a:rPr>
              <a:t>данные видны пользователю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786E92-87AA-47B0-8769-24C1ECE095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648090d4d24e84"/>
          <a:stretch xmlns:a="http://schemas.openxmlformats.org/drawingml/2006/main"/>
        </p:blipFill>
        <p:spPr>
          <a:xfrm xmlns:a="http://schemas.openxmlformats.org/drawingml/2006/main">
            <a:off x="6743700" y="1733949"/>
            <a:ext cx="4762500" cy="5095077"/>
          </a:xfrm>
          <a:prstGeom xmlns:a="http://schemas.openxmlformats.org/drawingml/2006/main" prst="rect">
            <a:avLst/>
          </a:prstGeom>
        </p:spPr>
      </p:pic>
      <p:sp>
        <p:nvSpPr>
          <p:cNvPr id="6" name="08">
            <a:extLst xmlns:a="http://schemas.openxmlformats.org/drawingml/2006/main">
              <a:ext uri="{FF2B5EF4-FFF2-40B4-BE49-F238E27FC236}">
                <a16:creationId xmlns:a16="http://schemas.microsoft.com/office/drawing/2014/main" id="{A7ED8E6A-E29B-4415-AB50-D35B1F346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3722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5771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771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771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6688412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2F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Следующий шаг: полевой пилот">
            <a:extLst xmlns:a="http://schemas.openxmlformats.org/drawingml/2006/main">
              <a:ext uri="{FF2B5EF4-FFF2-40B4-BE49-F238E27FC236}">
                <a16:creationId xmlns:a16="http://schemas.microsoft.com/office/drawing/2014/main" id="{962AC253-E293-4B93-A546-AE72E374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9525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4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Следующий шаг:</a:t>
            </a:r>
          </a:p>
          <a:p xmlns:a="http://schemas.openxmlformats.org/drawingml/2006/main">
            <a:pPr algn="l">
              <a:defRPr sz="4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полевой пилот</a:t>
            </a:r>
          </a:p>
        </p:txBody>
      </p:sp>
      <p:sp>
        <p:nvSpPr>
          <p:cNvPr id="2" name="10">
            <a:extLst xmlns:a="http://schemas.openxmlformats.org/drawingml/2006/main">
              <a:ext uri="{FF2B5EF4-FFF2-40B4-BE49-F238E27FC236}">
                <a16:creationId xmlns:a16="http://schemas.microsoft.com/office/drawing/2014/main" id="{846B3C8D-3FE9-4034-B1CD-2234DD89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81275"/>
            <a:ext cx="400050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0" b="1">
                <a:solidFill>
                  <a:srgbClr val="D8FA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0" b="1">
                <a:solidFill>
                  <a:srgbClr val="D8FA6B"/>
                </a:solidFill>
                <a:latin typeface="Arial"/>
                <a:ea typeface="Arial"/>
                <a:cs typeface="Arial"/>
              </a:defRPr>
            </a:pPr>
            <a:r>
              <a:rPr sz="12750" b="1">
                <a:solidFill>
                  <a:srgbClr val="D8FA6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жителей и гостей Астаны">
            <a:extLst xmlns:a="http://schemas.openxmlformats.org/drawingml/2006/main">
              <a:ext uri="{FF2B5EF4-FFF2-40B4-BE49-F238E27FC236}">
                <a16:creationId xmlns:a16="http://schemas.microsoft.com/office/drawing/2014/main" id="{C50C3885-C0E1-4579-AA1E-09D625369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86100"/>
            <a:ext cx="6477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жителей и гостей Астаны</a:t>
            </a:r>
          </a:p>
        </p:txBody>
      </p:sp>
      <p:sp>
        <p:nvSpPr>
          <p:cNvPr id="4" name="План исследования, не проведённый пилот">
            <a:extLst xmlns:a="http://schemas.openxmlformats.org/drawingml/2006/main">
              <a:ext uri="{FF2B5EF4-FFF2-40B4-BE49-F238E27FC236}">
                <a16:creationId xmlns:a16="http://schemas.microsoft.com/office/drawing/2014/main" id="{FA3EB9F4-094E-4A05-9244-3C7D2739B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48175"/>
            <a:ext cx="619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0">
                <a:solidFill>
                  <a:srgbClr val="BCCFC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BCCFC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CCFC5"/>
                </a:solidFill>
                <a:latin typeface="Arial"/>
                <a:ea typeface="Arial"/>
                <a:cs typeface="Arial"/>
              </a:rPr>
              <a:t>План исследования, не проведённый пилот</a:t>
            </a:r>
          </a:p>
        </p:txBody>
      </p:sp>
      <p:sp>
        <p:nvSpPr>
          <p:cNvPr id="5" name="Полезность плана и точность данных на реальной прогулке">
            <a:extLst xmlns:a="http://schemas.openxmlformats.org/drawingml/2006/main">
              <a:ext uri="{FF2B5EF4-FFF2-40B4-BE49-F238E27FC236}">
                <a16:creationId xmlns:a16="http://schemas.microsoft.com/office/drawing/2014/main" id="{8B1BCDB6-A207-4BC4-AFF3-C685E8078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Полезность плана и точность данных на реальной прогулке</a:t>
            </a:r>
          </a:p>
        </p:txBody>
      </p:sp>
      <p:sp>
        <p:nvSpPr>
          <p:cNvPr id="6" name="09">
            <a:extLst xmlns:a="http://schemas.openxmlformats.org/drawingml/2006/main">
              <a:ext uri="{FF2B5EF4-FFF2-40B4-BE49-F238E27FC236}">
                <a16:creationId xmlns:a16="http://schemas.microsoft.com/office/drawing/2014/main" id="{4F71043C-4E35-404C-804B-F85A9D5DF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3722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BCCFC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BCCFC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CCFC5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2829239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оказательства и границы проверки">
            <a:extLst xmlns:a="http://schemas.openxmlformats.org/drawingml/2006/main">
              <a:ext uri="{FF2B5EF4-FFF2-40B4-BE49-F238E27FC236}">
                <a16:creationId xmlns:a16="http://schemas.microsoft.com/office/drawing/2014/main" id="{595DE3CD-0CB6-479E-A8E6-4D4067BC9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47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900" b="1">
                <a:solidFill>
                  <a:srgbClr val="17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900" b="1">
                <a:solidFill>
                  <a:srgbClr val="173D35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3D35"/>
                </a:solidFill>
                <a:latin typeface="Arial"/>
                <a:ea typeface="Arial"/>
                <a:cs typeface="Arial"/>
              </a:rPr>
              <a:t>Доказательства</a:t>
            </a:r>
          </a:p>
          <a:p xmlns:a="http://schemas.openxmlformats.org/drawingml/2006/main">
            <a:pPr algn="l">
              <a:defRPr sz="3900" b="1">
                <a:solidFill>
                  <a:srgbClr val="173D35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3D35"/>
                </a:solidFill>
                <a:latin typeface="Arial"/>
                <a:ea typeface="Arial"/>
                <a:cs typeface="Arial"/>
              </a:rPr>
              <a:t>и границы проверки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1F440D-5675-4F8C-9B47-583E4A9B9965}"/>
              </a:ext>
            </a:extLst>
          </p:cNvPr>
          <p:cNvGraphicFramePr/>
          <p:nvPr/>
        </p:nvGraphicFramePr>
        <p:xfrm>
          <a:off xmlns:a="http://schemas.openxmlformats.org/drawingml/2006/main" x="609600" y="2200275"/>
          <a:ext xmlns:a="http://schemas.openxmlformats.org/drawingml/2006/main" cx="10972800" cy="30765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571875"/>
                <a:gridCol w="7400925"/>
              </a:tblGrid>
              <a:tr h="61531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3D35"/>
                          </a:solidFill>
                          <a:latin typeface="Arial"/>
                          <a:ea typeface="Arial"/>
                          <a:cs typeface="Arial"/>
                        </a:rPr>
                        <a:t>Проверка</a:t>
                      </a:r>
                    </a:p>
                  </a:txBody>
                  <a:tcPr marL="152400" marR="133350" marT="114300" marB="114300" anchor="ctr">
                    <a:lnL w="4763">
                      <a:solidFill>
                        <a:srgbClr val="D9E5DD"/>
                      </a:solidFill>
                      <a:prstDash val="solid"/>
                    </a:lnL>
                    <a:lnR w="4763">
                      <a:solidFill>
                        <a:srgbClr val="D9E5DD"/>
                      </a:solidFill>
                      <a:prstDash val="solid"/>
                    </a:lnR>
                    <a:lnT w="4763">
                      <a:solidFill>
                        <a:srgbClr val="D9E5DD"/>
                      </a:solidFill>
                      <a:prstDash val="solid"/>
                    </a:lnT>
                    <a:lnB w="4763">
                      <a:solidFill>
                        <a:srgbClr val="D9E5DD"/>
                      </a:solidFill>
                      <a:prstDash val="solid"/>
                    </a:lnB>
                    <a:solidFill>
                      <a:srgbClr val="E6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3D35"/>
                          </a:solidFill>
                          <a:latin typeface="Arial"/>
                          <a:ea typeface="Arial"/>
                          <a:cs typeface="Arial"/>
                        </a:rPr>
                        <a:t>Что подтверждено</a:t>
                      </a:r>
                    </a:p>
                  </a:txBody>
                  <a:tcPr marL="152400" marR="133350" marT="114300" marB="114300" anchor="ctr">
                    <a:lnR w="4763">
                      <a:solidFill>
                        <a:srgbClr val="D9E5DD"/>
                      </a:solidFill>
                      <a:prstDash val="solid"/>
                    </a:lnR>
                    <a:lnT w="4763">
                      <a:solidFill>
                        <a:srgbClr val="D9E5DD"/>
                      </a:solidFill>
                      <a:prstDash val="solid"/>
                    </a:lnT>
                    <a:lnB w="4763">
                      <a:solidFill>
                        <a:srgbClr val="D9E5DD"/>
                      </a:solidFill>
                      <a:prstDash val="solid"/>
                    </a:lnB>
                    <a:solidFill>
                      <a:srgbClr val="E6F0EA"/>
                    </a:solidFill>
                  </a:tcPr>
                </a:tc>
              </a:tr>
              <a:tr h="61531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3D35"/>
                          </a:solidFill>
                          <a:latin typeface="Arial"/>
                          <a:ea typeface="Arial"/>
                          <a:cs typeface="Arial"/>
                        </a:rPr>
                        <a:t>265 / 265</a:t>
                      </a:r>
                    </a:p>
                  </a:txBody>
                  <a:tcPr marL="152400" marR="133350" marT="114300" marB="114300" anchor="ctr">
                    <a:lnL w="4763">
                      <a:solidFill>
                        <a:srgbClr val="D9E5DD"/>
                      </a:solidFill>
                      <a:prstDash val="solid"/>
                    </a:lnL>
                    <a:lnR w="4763">
                      <a:solidFill>
                        <a:srgbClr val="D9E5DD"/>
                      </a:solidFill>
                      <a:prstDash val="solid"/>
                    </a:lnR>
                    <a:lnB w="4763">
                      <a:solidFill>
                        <a:srgbClr val="D9E5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D35"/>
                          </a:solidFill>
                          <a:latin typeface="Arial"/>
                          <a:ea typeface="Arial"/>
                          <a:cs typeface="Arial"/>
                        </a:rPr>
                        <a:t>Unit и интеграционные</a:t>
                      </a:r>
                    </a:p>
                  </a:txBody>
                  <a:tcPr marL="152400" marR="133350" marT="114300" marB="114300" anchor="ctr">
                    <a:lnR w="4763">
                      <a:solidFill>
                        <a:srgbClr val="D9E5DD"/>
                      </a:solidFill>
                      <a:prstDash val="solid"/>
                    </a:lnR>
                    <a:lnB w="4763">
                      <a:solidFill>
                        <a:srgbClr val="D9E5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531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3D35"/>
                          </a:solidFill>
                          <a:latin typeface="Arial"/>
                          <a:ea typeface="Arial"/>
                          <a:cs typeface="Arial"/>
                        </a:rPr>
                        <a:t>38 / 38</a:t>
                      </a:r>
                    </a:p>
                  </a:txBody>
                  <a:tcPr marL="152400" marR="133350" marT="114300" marB="114300" anchor="ctr">
                    <a:lnL w="4763">
                      <a:solidFill>
                        <a:srgbClr val="D9E5DD"/>
                      </a:solidFill>
                      <a:prstDash val="solid"/>
                    </a:lnL>
                    <a:lnR w="4763">
                      <a:solidFill>
                        <a:srgbClr val="D9E5DD"/>
                      </a:solidFill>
                      <a:prstDash val="solid"/>
                    </a:lnR>
                    <a:lnB w="4763">
                      <a:solidFill>
                        <a:srgbClr val="D9E5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D35"/>
                          </a:solidFill>
                          <a:latin typeface="Arial"/>
                          <a:ea typeface="Arial"/>
                          <a:cs typeface="Arial"/>
                        </a:rPr>
                        <a:t>Браузерные сценарии, UI fixtures отделены</a:t>
                      </a:r>
                    </a:p>
                  </a:txBody>
                  <a:tcPr marL="152400" marR="133350" marT="114300" marB="114300" anchor="ctr">
                    <a:lnR w="4763">
                      <a:solidFill>
                        <a:srgbClr val="D9E5DD"/>
                      </a:solidFill>
                      <a:prstDash val="solid"/>
                    </a:lnR>
                    <a:lnB w="4763">
                      <a:solidFill>
                        <a:srgbClr val="D9E5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531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3D35"/>
                          </a:solidFill>
                          <a:latin typeface="Arial"/>
                          <a:ea typeface="Arial"/>
                          <a:cs typeface="Arial"/>
                        </a:rPr>
                        <a:t>18 / 18 + 10 / 10</a:t>
                      </a:r>
                    </a:p>
                  </a:txBody>
                  <a:tcPr marL="152400" marR="133350" marT="114300" marB="114300" anchor="ctr">
                    <a:lnL w="4763">
                      <a:solidFill>
                        <a:srgbClr val="D9E5DD"/>
                      </a:solidFill>
                      <a:prstDash val="solid"/>
                    </a:lnL>
                    <a:lnR w="4763">
                      <a:solidFill>
                        <a:srgbClr val="D9E5DD"/>
                      </a:solidFill>
                      <a:prstDash val="solid"/>
                    </a:lnR>
                    <a:lnB w="4763">
                      <a:solidFill>
                        <a:srgbClr val="D9E5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D35"/>
                          </a:solidFill>
                          <a:latin typeface="Arial"/>
                          <a:ea typeface="Arial"/>
                          <a:cs typeface="Arial"/>
                        </a:rPr>
                        <a:t>Snapshot и eval</a:t>
                      </a:r>
                    </a:p>
                  </a:txBody>
                  <a:tcPr marL="152400" marR="133350" marT="114300" marB="114300" anchor="ctr">
                    <a:lnR w="4763">
                      <a:solidFill>
                        <a:srgbClr val="D9E5DD"/>
                      </a:solidFill>
                      <a:prstDash val="solid"/>
                    </a:lnR>
                    <a:lnB w="4763">
                      <a:solidFill>
                        <a:srgbClr val="D9E5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531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3D35"/>
                          </a:solidFill>
                          <a:latin typeface="Arial"/>
                          <a:ea typeface="Arial"/>
                          <a:cs typeface="Arial"/>
                        </a:rPr>
                        <a:t>43 / 60 и 58 / 90 мин</a:t>
                      </a:r>
                    </a:p>
                  </a:txBody>
                  <a:tcPr marL="152400" marR="133350" marT="114300" marB="114300" anchor="ctr">
                    <a:lnL w="4763">
                      <a:solidFill>
                        <a:srgbClr val="D9E5DD"/>
                      </a:solidFill>
                      <a:prstDash val="solid"/>
                    </a:lnL>
                    <a:lnR w="4763">
                      <a:solidFill>
                        <a:srgbClr val="D9E5DD"/>
                      </a:solidFill>
                      <a:prstDash val="solid"/>
                    </a:lnR>
                    <a:lnB w="4763">
                      <a:solidFill>
                        <a:srgbClr val="D9E5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D35"/>
                          </a:solidFill>
                          <a:latin typeface="Arial"/>
                          <a:ea typeface="Arial"/>
                          <a:cs typeface="Arial"/>
                        </a:rPr>
                        <a:t>Два фактических локальных walking-плана</a:t>
                      </a:r>
                    </a:p>
                  </a:txBody>
                  <a:tcPr marL="152400" marR="133350" marT="114300" marB="114300" anchor="ctr">
                    <a:lnR w="4763">
                      <a:solidFill>
                        <a:srgbClr val="D9E5DD"/>
                      </a:solidFill>
                      <a:prstDash val="solid"/>
                    </a:lnR>
                    <a:lnB w="4763">
                      <a:solidFill>
                        <a:srgbClr val="D9E5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14 внутренних кейсов: 5/14 до, 14/14 после Полезность для людей и оцен">
            <a:extLst xmlns:a="http://schemas.openxmlformats.org/drawingml/2006/main">
              <a:ext uri="{FF2B5EF4-FFF2-40B4-BE49-F238E27FC236}">
                <a16:creationId xmlns:a16="http://schemas.microsoft.com/office/drawing/2014/main" id="{6B2D6D21-A803-4B54-8224-CA8325E68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1057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0">
                <a:solidFill>
                  <a:srgbClr val="5771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771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77168"/>
                </a:solidFill>
                <a:latin typeface="Arial"/>
                <a:ea typeface="Arial"/>
                <a:cs typeface="Arial"/>
              </a:rPr>
              <a:t>14 внутренних кейсов: 5/14 до, 14/14 после</a:t>
            </a:r>
          </a:p>
          <a:p xmlns:a="http://schemas.openxmlformats.org/drawingml/2006/main">
            <a:pPr algn="l">
              <a:defRPr sz="1875" b="0">
                <a:solidFill>
                  <a:srgbClr val="5771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77168"/>
                </a:solidFill>
                <a:latin typeface="Arial"/>
                <a:ea typeface="Arial"/>
                <a:cs typeface="Arial"/>
              </a:rPr>
              <a:t>Полезность для людей и оценка жюри ещё не проверены</a:t>
            </a:r>
          </a:p>
        </p:txBody>
      </p:sp>
      <p:sp>
        <p:nvSpPr>
          <p:cNvPr id="4" name="10">
            <a:extLst xmlns:a="http://schemas.openxmlformats.org/drawingml/2006/main">
              <a:ext uri="{FF2B5EF4-FFF2-40B4-BE49-F238E27FC236}">
                <a16:creationId xmlns:a16="http://schemas.microsoft.com/office/drawing/2014/main" id="{3D69242B-A416-4342-AAAF-3FB140B11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3722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5771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771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7716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401920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Покрытие данных и права">
            <a:extLst xmlns:a="http://schemas.openxmlformats.org/drawingml/2006/main">
              <a:ext uri="{FF2B5EF4-FFF2-40B4-BE49-F238E27FC236}">
                <a16:creationId xmlns:a16="http://schemas.microsoft.com/office/drawing/2014/main" id="{1101E4E1-3CAA-4250-960F-A90E42AE5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53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975" b="1">
                <a:solidFill>
                  <a:srgbClr val="17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975" b="1">
                <a:solidFill>
                  <a:srgbClr val="173D35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173D35"/>
                </a:solidFill>
                <a:latin typeface="Arial"/>
                <a:ea typeface="Arial"/>
                <a:cs typeface="Arial"/>
              </a:rPr>
              <a:t>Покрытие данных</a:t>
            </a:r>
          </a:p>
          <a:p xmlns:a="http://schemas.openxmlformats.org/drawingml/2006/main">
            <a:pPr algn="l">
              <a:defRPr sz="3975" b="1">
                <a:solidFill>
                  <a:srgbClr val="173D35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173D35"/>
                </a:solidFill>
                <a:latin typeface="Arial"/>
                <a:ea typeface="Arial"/>
                <a:cs typeface="Arial"/>
              </a:rPr>
              <a:t>и права</a:t>
            </a:r>
          </a:p>
        </p:txBody>
      </p:sp>
      <p:sp>
        <p:nvSpPr>
          <p:cNvPr id="2" name="2 165">
            <a:extLst xmlns:a="http://schemas.openxmlformats.org/drawingml/2006/main">
              <a:ext uri="{FF2B5EF4-FFF2-40B4-BE49-F238E27FC236}">
                <a16:creationId xmlns:a16="http://schemas.microsoft.com/office/drawing/2014/main" id="{D8F2D348-2C6C-4C75-90EB-713FCC2F8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476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350" b="1">
                <a:solidFill>
                  <a:srgbClr val="096B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350" b="1">
                <a:solidFill>
                  <a:srgbClr val="096B5B"/>
                </a:solidFill>
                <a:latin typeface="Arial"/>
                <a:ea typeface="Arial"/>
                <a:cs typeface="Arial"/>
              </a:defRPr>
            </a:pPr>
            <a:r>
              <a:rPr sz="7350" b="1">
                <a:solidFill>
                  <a:srgbClr val="096B5B"/>
                </a:solidFill>
                <a:latin typeface="Arial"/>
                <a:ea typeface="Arial"/>
                <a:cs typeface="Arial"/>
              </a:rPr>
              <a:t>2 165</a:t>
            </a:r>
          </a:p>
        </p:txBody>
      </p:sp>
      <p:sp>
        <p:nvSpPr>
          <p:cNvPr id="3" name="мест доступны поиску">
            <a:extLst xmlns:a="http://schemas.openxmlformats.org/drawingml/2006/main">
              <a:ext uri="{FF2B5EF4-FFF2-40B4-BE49-F238E27FC236}">
                <a16:creationId xmlns:a16="http://schemas.microsoft.com/office/drawing/2014/main" id="{80D6E70B-B0AF-43CE-8A46-7DFA6AF08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9525"/>
            <a:ext cx="4857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250" b="0">
                <a:solidFill>
                  <a:srgbClr val="17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173D3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D35"/>
                </a:solidFill>
                <a:latin typeface="Arial"/>
                <a:ea typeface="Arial"/>
                <a:cs typeface="Arial"/>
              </a:rPr>
              <a:t>мест доступны поиску</a:t>
            </a:r>
          </a:p>
        </p:txBody>
      </p:sp>
      <p:sp>
        <p:nvSpPr>
          <p:cNvPr id="4" name="2 170 сохранено · 5 в карантине">
            <a:extLst xmlns:a="http://schemas.openxmlformats.org/drawingml/2006/main">
              <a:ext uri="{FF2B5EF4-FFF2-40B4-BE49-F238E27FC236}">
                <a16:creationId xmlns:a16="http://schemas.microsoft.com/office/drawing/2014/main" id="{774701EB-6852-4385-B89E-5124D2A8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523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0">
                <a:solidFill>
                  <a:srgbClr val="5771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7716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77168"/>
                </a:solidFill>
                <a:latin typeface="Arial"/>
                <a:ea typeface="Arial"/>
                <a:cs typeface="Arial"/>
              </a:rPr>
              <a:t>2 170 сохранено · 5 в карантине</a:t>
            </a:r>
          </a:p>
        </p:txBody>
      </p:sp>
      <p:sp>
        <p:nvSpPr>
          <p:cNvPr id="5" name="14 мест с фотографиями">
            <a:extLst xmlns:a="http://schemas.openxmlformats.org/drawingml/2006/main">
              <a:ext uri="{FF2B5EF4-FFF2-40B4-BE49-F238E27FC236}">
                <a16:creationId xmlns:a16="http://schemas.microsoft.com/office/drawing/2014/main" id="{23C169C3-E855-466B-B08E-02959C125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05075"/>
            <a:ext cx="4667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>
                <a:solidFill>
                  <a:srgbClr val="17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73D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D35"/>
                </a:solidFill>
                <a:latin typeface="Arial"/>
                <a:ea typeface="Arial"/>
                <a:cs typeface="Arial"/>
              </a:rPr>
              <a:t>14 мест с фотографиями</a:t>
            </a:r>
          </a:p>
        </p:txBody>
      </p:sp>
      <p:sp>
        <p:nvSpPr>
          <p:cNvPr id="6" name="60 фото с индивидуальными лицензиями">
            <a:extLst xmlns:a="http://schemas.openxmlformats.org/drawingml/2006/main">
              <a:ext uri="{FF2B5EF4-FFF2-40B4-BE49-F238E27FC236}">
                <a16:creationId xmlns:a16="http://schemas.microsoft.com/office/drawing/2014/main" id="{7CE08F6D-5290-40C4-A783-5A8194751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14750"/>
            <a:ext cx="45910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025" b="0">
                <a:solidFill>
                  <a:srgbClr val="5771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7716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77168"/>
                </a:solidFill>
                <a:latin typeface="Arial"/>
                <a:ea typeface="Arial"/>
                <a:cs typeface="Arial"/>
              </a:rPr>
              <a:t>60 фото с индивидуальными лицензиями</a:t>
            </a:r>
          </a:p>
        </p:txBody>
      </p:sp>
      <p:sp>
        <p:nvSpPr>
          <p:cNvPr id="7" name="Неполный снимок Астаны на 18 октября 2026">
            <a:extLst xmlns:a="http://schemas.openxmlformats.org/drawingml/2006/main">
              <a:ext uri="{FF2B5EF4-FFF2-40B4-BE49-F238E27FC236}">
                <a16:creationId xmlns:a16="http://schemas.microsoft.com/office/drawing/2014/main" id="{1BA4165F-8237-4672-9A03-E69437EAF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48250"/>
            <a:ext cx="457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025" b="0">
                <a:solidFill>
                  <a:srgbClr val="5771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7716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77168"/>
                </a:solidFill>
                <a:latin typeface="Arial"/>
                <a:ea typeface="Arial"/>
                <a:cs typeface="Arial"/>
              </a:rPr>
              <a:t>Неполный снимок Астаны</a:t>
            </a:r>
          </a:p>
          <a:p xmlns:a="http://schemas.openxmlformats.org/drawingml/2006/main">
            <a:pPr algn="l">
              <a:defRPr sz="2025" b="0">
                <a:solidFill>
                  <a:srgbClr val="57716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77168"/>
                </a:solidFill>
                <a:latin typeface="Arial"/>
                <a:ea typeface="Arial"/>
                <a:cs typeface="Arial"/>
              </a:rPr>
              <a:t>на 18 октября 2026</a:t>
            </a:r>
          </a:p>
        </p:txBody>
      </p:sp>
      <p:sp>
        <p:nvSpPr>
          <p:cNvPr id="8" name="OpenStreetMap / ODbL · Wikimedia Commons / права каждого файла">
            <a:extLst xmlns:a="http://schemas.openxmlformats.org/drawingml/2006/main">
              <a:ext uri="{FF2B5EF4-FFF2-40B4-BE49-F238E27FC236}">
                <a16:creationId xmlns:a16="http://schemas.microsoft.com/office/drawing/2014/main" id="{0E699379-0496-473D-8713-0158E938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5771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771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77168"/>
                </a:solidFill>
                <a:latin typeface="Arial"/>
                <a:ea typeface="Arial"/>
                <a:cs typeface="Arial"/>
              </a:rPr>
              <a:t>OpenStreetMap / ODbL · Wikimedia Commons / права каждого файла</a:t>
            </a:r>
          </a:p>
        </p:txBody>
      </p:sp>
      <p:sp>
        <p:nvSpPr>
          <p:cNvPr id="9" name="11">
            <a:extLst xmlns:a="http://schemas.openxmlformats.org/drawingml/2006/main">
              <a:ext uri="{FF2B5EF4-FFF2-40B4-BE49-F238E27FC236}">
                <a16:creationId xmlns:a16="http://schemas.microsoft.com/office/drawing/2014/main" id="{6B756FD1-ABF7-46CA-A9B8-DF260FF99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3722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5771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771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7716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024876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2026-10-18T18:47:53.3280000Z</dcterms:created>
  <dcterms:modified xsi:type="dcterms:W3CDTF">2026-10-18T18:47:53.3290000Z</dcterms:modified>
</coreProperties>
</file>