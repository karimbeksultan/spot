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973f178a74c84" /><Relationship Type="http://schemas.openxmlformats.org/officeDocument/2006/relationships/extended-properties" Target="/docProps/app.xml" Id="R79e2a038fecb4f02" /><Relationship Type="http://schemas.openxmlformats.org/officeDocument/2006/relationships/officeDocument" Target="/ppt/presentation.xml" Id="Rc15f02405b4f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becb679144f0d"/>
  </p:sldMasterIdLst>
  <p:notesMasterIdLst>
    <p:notesMasterId xmlns:r="http://schemas.openxmlformats.org/officeDocument/2006/relationships" r:id="R21453ae4895147fa"/>
  </p:notesMasterIdLst>
  <p:sldIdLst>
    <p:sldId xmlns:r="http://schemas.openxmlformats.org/officeDocument/2006/relationships" id="256" r:id="R5184443ce79c4f60"/>
    <p:sldId xmlns:r="http://schemas.openxmlformats.org/officeDocument/2006/relationships" id="257" r:id="R3d160802eece49d6"/>
    <p:sldId xmlns:r="http://schemas.openxmlformats.org/officeDocument/2006/relationships" id="258" r:id="R5a908cd518dd48d5"/>
    <p:sldId xmlns:r="http://schemas.openxmlformats.org/officeDocument/2006/relationships" id="259" r:id="Rc91385b063614618"/>
    <p:sldId xmlns:r="http://schemas.openxmlformats.org/officeDocument/2006/relationships" id="260" r:id="R61724d4f7bab4b0d"/>
    <p:sldId xmlns:r="http://schemas.openxmlformats.org/officeDocument/2006/relationships" id="261" r:id="R7aca106451734df5"/>
    <p:sldId xmlns:r="http://schemas.openxmlformats.org/officeDocument/2006/relationships" id="262" r:id="Rfde06cac3e26457d"/>
    <p:sldId xmlns:r="http://schemas.openxmlformats.org/officeDocument/2006/relationships" id="263" r:id="R94e32760cad0463a"/>
    <p:sldId xmlns:r="http://schemas.openxmlformats.org/officeDocument/2006/relationships" id="264" r:id="R7ed84ed645694e34"/>
    <p:sldId xmlns:r="http://schemas.openxmlformats.org/officeDocument/2006/relationships" id="265" r:id="R19757503dc60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43e70b8ad84116" /><Relationship Type="http://schemas.openxmlformats.org/officeDocument/2006/relationships/slideMaster" Target="/ppt/slideMasters/slideMaster1.xml" Id="R96abecb679144f0d" /><Relationship Type="http://schemas.openxmlformats.org/officeDocument/2006/relationships/notesMaster" Target="/ppt/notesMasters/notesMaster1.xml" Id="R21453ae4895147fa" /><Relationship Type="http://schemas.openxmlformats.org/officeDocument/2006/relationships/presProps" Target="/ppt/presProps.xml" Id="R7f19157294ba40b7" /><Relationship Type="http://schemas.openxmlformats.org/officeDocument/2006/relationships/tableStyles" Target="/ppt/tableStyles.xml" Id="R650d674484604985" /><Relationship Type="http://schemas.openxmlformats.org/officeDocument/2006/relationships/slide" Target="/ppt/slides/slide1.xml" Id="R5184443ce79c4f60" /><Relationship Type="http://schemas.openxmlformats.org/officeDocument/2006/relationships/slide" Target="/ppt/slides/slide2.xml" Id="R3d160802eece49d6" /><Relationship Type="http://schemas.openxmlformats.org/officeDocument/2006/relationships/slide" Target="/ppt/slides/slide3.xml" Id="R5a908cd518dd48d5" /><Relationship Type="http://schemas.openxmlformats.org/officeDocument/2006/relationships/slide" Target="/ppt/slides/slide4.xml" Id="Rc91385b063614618" /><Relationship Type="http://schemas.openxmlformats.org/officeDocument/2006/relationships/slide" Target="/ppt/slides/slide5.xml" Id="R61724d4f7bab4b0d" /><Relationship Type="http://schemas.openxmlformats.org/officeDocument/2006/relationships/slide" Target="/ppt/slides/slide6.xml" Id="R7aca106451734df5" /><Relationship Type="http://schemas.openxmlformats.org/officeDocument/2006/relationships/slide" Target="/ppt/slides/slide7.xml" Id="Rfde06cac3e26457d" /><Relationship Type="http://schemas.openxmlformats.org/officeDocument/2006/relationships/slide" Target="/ppt/slides/slide8.xml" Id="R94e32760cad0463a" /><Relationship Type="http://schemas.openxmlformats.org/officeDocument/2006/relationships/slide" Target="/ppt/slides/slide9.xml" Id="R7ed84ed645694e34" /><Relationship Type="http://schemas.openxmlformats.org/officeDocument/2006/relationships/slide" Target="/ppt/slides/slide10.xml" Id="R19757503dc60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3e2caec83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734e8788948c8" /><Relationship Type="http://schemas.openxmlformats.org/officeDocument/2006/relationships/notesMaster" Target="/ppt/notesMasters/notesMaster1.xml" Id="Rb49f6e7727c1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65b03fadcc412a" /><Relationship Type="http://schemas.openxmlformats.org/officeDocument/2006/relationships/notesMaster" Target="/ppt/notesMasters/notesMaster1.xml" Id="Rc54572f568a44b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89d252a1b438f" /><Relationship Type="http://schemas.openxmlformats.org/officeDocument/2006/relationships/notesMaster" Target="/ppt/notesMasters/notesMaster1.xml" Id="Rbd82be74d29a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a2722337e4a72" /><Relationship Type="http://schemas.openxmlformats.org/officeDocument/2006/relationships/notesMaster" Target="/ppt/notesMasters/notesMaster1.xml" Id="R576733283a6940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d8508725c435c" /><Relationship Type="http://schemas.openxmlformats.org/officeDocument/2006/relationships/notesMaster" Target="/ppt/notesMasters/notesMaster1.xml" Id="Rfceea0c14bb347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46befe83f4f8c" /><Relationship Type="http://schemas.openxmlformats.org/officeDocument/2006/relationships/notesMaster" Target="/ppt/notesMasters/notesMaster1.xml" Id="R299b5df67cec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5942431f54090" /><Relationship Type="http://schemas.openxmlformats.org/officeDocument/2006/relationships/notesMaster" Target="/ppt/notesMasters/notesMaster1.xml" Id="Rd655941bce7749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2a783fdaf8483e" /><Relationship Type="http://schemas.openxmlformats.org/officeDocument/2006/relationships/notesMaster" Target="/ppt/notesMasters/notesMaster1.xml" Id="R201d6754728a4c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555e804bb4a0b" /><Relationship Type="http://schemas.openxmlformats.org/officeDocument/2006/relationships/notesMaster" Target="/ppt/notesMasters/notesMaster1.xml" Id="R7b1d4a4ed6be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e9c4f02cdd4d1e" /><Relationship Type="http://schemas.openxmlformats.org/officeDocument/2006/relationships/notesMaster" Target="/ppt/notesMasters/notesMaster1.xml" Id="R18756f8d0c48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Spot помогает жителям и гостям Астаны выбрать короткую прогулку рядом с собой. Пользователь задаёт старт и доступное время, а система предлагает конкретное место, объясняет выбор и показывает неизвестные данные. Сегодня мы демонстрируем локальный прототип и отдельно называем фактически проверенные AI-интеграции.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01_SPOT_MASTER_PROMPT_RU.md, sources/hackathon_requirements.pdf, первый трек НИЦ Smart City; текущий код work/Spot. Обложка использует фактическую карту текущего прототипа с публичным демонстрационным стартом. © OpenStreetMap contributors, ODbL. Линия на карте соответствует расчёту сервиса, а не нарисованному для оформления маршруту.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0:25–1:05. Наша аудитория — жители и гости Астаны с тридцатью–шестьюдесятью минутами между делами. Например, человек у Ботанического сада хочет выпить кофе, затем прогуляться и вернуться за шестьдесят минут. Обычный список мест оставляет ему задачу самому сопоставить расстояния, время и условия. Spot собирает эти вводные одним запросом и предлагает подходящие места рядом. Старт доступен вручную, поэтому GPS не требуется. Качество данных о разных местах неодинаково.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01_SPOT_MASTER_PROMPT_RU.md, sources/hackathon_requirements.pdf, первый трек НИЦ Smart City; текущий код work/Spot. Справа фактический мобильный экран текущего прототипа. Карта © OpenStreetMap contributors, ODbL.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1:05–1:55. Здесь фактический ответ на сценарий «Сначала кофе, затем парк: 60 минут у Ботанического сада, с возвратом; явно выбрано 18.10.2026, 12:00 Астана UTC+5». Результат проверки: Canele → Ботанический сад, оценка 43 из 60 минут, три walking-участка с возвратом, complete / fits_estimate. Карточки связаны с маркерами и ведут к записям источника. Пешеходный путь рассчитан сервисом, но время остаётся оценкой. Режим live · локальная Qwen указан прямо на экране. Сохранённые реальные POI не выдаются за синтетическую базу и не называются живым обновлением.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Доказательство: ../spot-pitch-20261018/r2/capture-verification.json. Фактический снимок приложения. Карта © OpenStreetMap contributors.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1:55–2:40. Сохранено 2170 исходных записей OpenStreetMap. 2165 допускаются к поиску, 5 записей с явным несовпадением города помещены в карантин и не рекомендуются. Это ограниченный снимок, а не полный каталог всех мест Астаны. Сборщик сохраняет происхождение и устраняет дубли по устойчивым ID. 60 фотографий сопоставлены с 14 доступными местами, каждый кадр имеет автора и лицензию. 337 доступных записей содержат часы из источника, но это не независимая проверка актуальности. Удобства без доказательства остаются неизвестными.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Источники: data/pois.json, data/scope-exclusions.json, data/reports/quality.json, data/photo-links.json. SHA256 корпуса cb8dcfff85509eb2498bb40b3b5edafb4f3d2995ca92844709da3bc8d4607fe9.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2:40–3:30. Сервер ищет реальные места и применяет обязательные ограничения, включая карантин источников. Лексический поиск и векторы отмечаются раздельно. Embeddings использует embeddinggemma, размерность 768; сохранённый индекс содержит 2170 документов, но 5 записей исключены из выдачи. Настроенная генерация: qwen3:0.6b через Ollama; prompt v4. Фактически проверено: qwen3:0.6b, spot-grounded-choices-v4; локальный ответ API, номера кандидатов и серверная привязка ID/evidence. Локальная Qwen ранжирует номера кандидатов, а сервер связывает их с POI ID и evidence, проверяет время и меняет состав плана. Это индексирование RAG, веса Qwen не обучались. Локальный core не требует облачных ключей. OpenAI и NVIDIA подключаются дополнительно, с разрешением и бюджетом.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Источники: src/lib/search.ts, src/lib/model.ts, src/lib/retrieval.ts, src/lib/place-scope.ts, src/lib/server/config.ts; ../spot-pitch-20261018/r2/capture-verification.json.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3:30–4:20. В запросе можно задать несколько обязательных этапов: сначала кофе, затем парк. Система показывает каждый этап и соответствующее ему реальное место. Свободный порядок тоже требует выполнения всех этапов. Совпадение этапов не означает, что пеший путь уже рассчитан: статус маршрута показан отдельно. В этом кадре время старта выбрано пользователем в Астане, UTC+5, и принятое время видно в ответе. Режим «Сейчас» обновляет время для нового запроса. Продолжение сохраняет этапы, старт, доступное время и возврат, а новый поиск сбрасывает их явно. Если пользователь изменит дату во время поиска, поздний старый ответ не должен перезаписать новый.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Источники: src/components/SpotApp.tsx, src/lib/types.ts, tests/e2e/context.spec.ts, tests/unit/ui-copy.test.ts. Фактический текущий скриншот.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4:20–5:20. Неполные часы, цены и удобства OSM могут привести к неподходящему совету. Неизвестные обязательные признаки исключают подтверждённое совпадение, а источники и предупреждения доступны пользователю. Это не заменяет актуальную проверку на месте. Маленькая Qwen на CPU может отвечать медленно или вернуть невалидную структуру. Поэтому выход ограничен номерами кандидатов, ID и evidence связывает сервер, есть timeout и явно обозначенный fallback. Малый набор тестов не доказывает отсутствие всех ошибок. Внешний API может отказать или потратить бюджет: платные вызовы закрыты до разрешения и лимита. Старт чувствителен: есть ручной выбор и минимизация AI-контекста. Карта и routing получают сетевые запросы. Google Maps открывается только по действию и получает публичное место, без пользовательского старта. Его сведения не импортируются и не используются для обучения. Следующий шаг — проверка удобств на месте и оценка полезности с людьми.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Источники: текущие src/lib/domain.ts, src/lib/server/config.ts, src/lib/model.ts, src/lib/search.ts, src/lib/routing.ts; artifacts/verification/quality-r2-20261018/after.json, artifacts/verification/2026-10-18T18-12-20-902Z-22916-verify/report.json, artifacts/verification/browser-r2-summary-20261018.json, artifacts/verification/2026-10-18T18-12-20-902Z-22916-verify/report.json, artifacts/verification/2026-10-18T18-12-20-902Z-22916-verify/report.json. Наличие privacy-проверки: подтверждено текущим прогоном.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5:20–6:05. Данные и ограничения доступны отдельной вкладкой прямо в приложении. Пользователь видит источники, правила передачи данных, неизвестные сведения и недостающие функции. Старт задаётся по действию, история перемещений не сохраняется приложением, а внешние получатели названы явно. Spot уже помогает выбрать короткую прогулку рядом. Это короткий план из одного–трёх мест, без планирования целого дня и бронирования. Неполное совпадение обязательных этапов или кухня без подтверждения не выдаются за полный план. Следующий шаг — подтвердить удобства и оценить полезность с людьми на настоящих прогулках. CV и проверенные события остаются планом развития. Репозиторий и материалы готовы к передаче после проверки. Локальное демо записываем после готовности проекта и презентации; публикация и ссылка для сдачи пока не готовы.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01_SPOT_MASTER_PROMPT_RU.md, sources/hackathon_requirements.pdf, первый трек НИЦ Smart City; текущий код work/Spot. Текущая проверка: 18 октября 2026 · R2. Справа фактическая вкладка «Данные и ограничения» текущего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для вопросов. Здесь показаны фактические проверки текущего кода, а не результаты прошлой версии. Фиксированные внутренние кейсы: 5 / 14 → 14 / 14, passed. Доказательство artifacts/verification/quality-r2-20261018/after.json. Unit и интеграционные: 265 / 265, passed. Доказательство artifacts/verification/2026-10-18T18-12-20-902Z-22916-verify/report.json. Браузерные сценарии: 38 / 38, passed. Доказательство artifacts/verification/browser-r2-summary-20261018.json. Snapshot и eval: 18 / 18 + 10 / 10, passed. Доказательство artifacts/verification/2026-10-18T18-12-20-902Z-22916-verify/report.json. Harness: lint, типы, build и другие: 8 / 8, passed. Доказательство artifacts/verification/2026-10-18T18-12-20-902Z-22916-verify/report.json. Четырнадцать фиксированных внутренних сценариев — формальные проверки, не оценка жюри. Браузерный набор включает явные UI fixtures; фактические локальные AI и walking вызовы имеют отдельные доказательства. Независимый прогон: в 60 минут построен план на 43 минуты, в 90 — на 58; первоначальное ожидание положительного 40-минутного варианта не оправдалось. Приложение сохранило этапы и лимит, вернув no_match после проверки времени. Это не доказывает, что во всём городе нет подходящего варианта. См. artifacts/verification/local-compound-r2-20261018/summary.json. Они не подтверждают доступ по ещё не добавленным облачным ключам, полезность для настоящих пользователей или нагрузочную надёжность.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Корпус cb8dcfff85509eb2498bb40b3b5edafb4f3d2995ca92844709da3bc8d4607fe9. Платных обращений в этой сессии: 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Приложение. Данные и скриншоты относятся к указанной текущей проверке, а время загрузки источника не является временем ручной проверки места. Основное задание — первый трек Smart City. Ссылки: https://www.openstreetmap.org/copyright ; https://commons.wikimedia.org/wiki/Commons:Reusing_content_outside_Wikimedia ; https://creativecommons.org/licenses/by-sa/4.0/ ; https://developers.google.com/maps/documentation/urls/get-started . Карта обложки — фактический screenshot текущего прототипа. Google Maps — отдельная внешняя проверка по действию пользователя, без копирования каталога или обучения на нём. Авторинг продолжает существующий artifact-tool генератор. Использованы Presentations и Anthropic PPTX для композиции и QA. PPT Master изучен, integrity guard пройден; его отдельный roundtrip pipeline не запускался.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Текущая проверка: 18 октября 2026 · R2. Источники: data/pois.json, data/provenance.json, data/photo-links.json, docs/TEST_SCENARIOS_AND_LIMITATIONS.md, docs/SUBMISSION_CHECKLIST.md.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b22a093d848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739d9f30843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8a30de51d49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c8644b7ca47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620b60fde48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84168a40a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F47B7A-E56D-4AFC-BC90-62A2177E9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4C39C4-882F-4263-B17A-8602D0EEC2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830C6C-29B8-4917-B9A8-177676605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4341E-2623-4EAB-A287-B2133C323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F7574D-E41F-4B86-8F37-8649A2E4E2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C9BFA2-46F9-4848-A9DF-657DC9E51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59D3F3-85CA-4CEF-BA59-FE09D86575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282DB8-D4F6-4AA9-BC94-575ECE764A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D282F-ED70-4402-9E4E-9C991EA6A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DD6CA7-84B6-41DA-A9DE-926D7264F2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1eeff096947a3" /><Relationship Type="http://schemas.openxmlformats.org/officeDocument/2006/relationships/slideLayout" Target="/ppt/slideLayouts/slideLayout1.xml" Id="Recdef1a5414d4bcd" /><Relationship Type="http://schemas.openxmlformats.org/officeDocument/2006/relationships/slideLayout" Target="/ppt/slideLayouts/slideLayout2.xml" Id="R6f41109c3a9d4a72" /><Relationship Type="http://schemas.openxmlformats.org/officeDocument/2006/relationships/slideLayout" Target="/ppt/slideLayouts/slideLayout3.xml" Id="Rac3bcb95ea6d483c" /><Relationship Type="http://schemas.openxmlformats.org/officeDocument/2006/relationships/slideLayout" Target="/ppt/slideLayouts/slideLayout4.xml" Id="R26b4908f67a4487a" /><Relationship Type="http://schemas.openxmlformats.org/officeDocument/2006/relationships/slideLayout" Target="/ppt/slideLayouts/slideLayout5.xml" Id="R0f2bb33df6164589" /><Relationship Type="http://schemas.openxmlformats.org/officeDocument/2006/relationships/slideLayout" Target="/ppt/slideLayouts/slideLayout6.xml" Id="Rcad9be47467a42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ef1a5414d4bcd"/>
    <p:sldLayoutId xmlns:r="http://schemas.openxmlformats.org/officeDocument/2006/relationships" id="2147483650" r:id="R6f41109c3a9d4a72"/>
    <p:sldLayoutId xmlns:r="http://schemas.openxmlformats.org/officeDocument/2006/relationships" id="2147483651" r:id="Rac3bcb95ea6d483c"/>
    <p:sldLayoutId xmlns:r="http://schemas.openxmlformats.org/officeDocument/2006/relationships" id="2147483652" r:id="R26b4908f67a4487a"/>
    <p:sldLayoutId xmlns:r="http://schemas.openxmlformats.org/officeDocument/2006/relationships" id="2147483653" r:id="R0f2bb33df6164589"/>
    <p:sldLayoutId xmlns:r="http://schemas.openxmlformats.org/officeDocument/2006/relationships" id="2147483654" r:id="Rcad9be47467a42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f427960b24f73" /><Relationship Type="http://schemas.openxmlformats.org/officeDocument/2006/relationships/image" Target="/ppt/media/image.png" Id="R4f328da698b44a36" /><Relationship Type="http://schemas.openxmlformats.org/officeDocument/2006/relationships/notesSlide" Target="/ppt/notesSlides/notesSlide1.xml" Id="Re0040e89371447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47193e9e64717" /><Relationship Type="http://schemas.openxmlformats.org/officeDocument/2006/relationships/image" Target="/ppt/media/image2.png" Id="R2ca11f7c7c7f4ef3" /><Relationship Type="http://schemas.openxmlformats.org/officeDocument/2006/relationships/notesSlide" Target="/ppt/notesSlides/notesSlide2.xml" Id="Re4a1f7176fbc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cc25ead484518" /><Relationship Type="http://schemas.openxmlformats.org/officeDocument/2006/relationships/image" Target="/ppt/media/image3.png" Id="Rb50c0f2ce764410b" /><Relationship Type="http://schemas.openxmlformats.org/officeDocument/2006/relationships/notesSlide" Target="/ppt/notesSlides/notesSlide3.xml" Id="Rc3c0179584d3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52e00d8a04c27" /><Relationship Type="http://schemas.openxmlformats.org/officeDocument/2006/relationships/chart" Target="/ppt/slides/charts/chart1.xml" Id="Rbe18f37d04c64b68" /><Relationship Type="http://schemas.openxmlformats.org/officeDocument/2006/relationships/notesSlide" Target="/ppt/notesSlides/notesSlide4.xml" Id="R08280ffd2859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bb84708114553" /><Relationship Type="http://schemas.openxmlformats.org/officeDocument/2006/relationships/notesSlide" Target="/ppt/notesSlides/notesSlide5.xml" Id="R64170e6291754f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90db3da26417e" /><Relationship Type="http://schemas.openxmlformats.org/officeDocument/2006/relationships/image" Target="/ppt/media/image4.png" Id="R4ebc3d4024f64901" /><Relationship Type="http://schemas.openxmlformats.org/officeDocument/2006/relationships/notesSlide" Target="/ppt/notesSlides/notesSlide6.xml" Id="R1011b4053f48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62244339c4354" /><Relationship Type="http://schemas.openxmlformats.org/officeDocument/2006/relationships/notesSlide" Target="/ppt/notesSlides/notesSlide7.xml" Id="Rfc9f4f13101e4d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33bd680734448" /><Relationship Type="http://schemas.openxmlformats.org/officeDocument/2006/relationships/image" Target="/ppt/media/image5.png" Id="R141bb8dd17034ea3" /><Relationship Type="http://schemas.openxmlformats.org/officeDocument/2006/relationships/notesSlide" Target="/ppt/notesSlides/notesSlide8.xml" Id="Rf23ed28cd88a48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353cb457848ee" /><Relationship Type="http://schemas.openxmlformats.org/officeDocument/2006/relationships/notesSlide" Target="/ppt/notesSlides/notesSlide9.xml" Id="R92aeb4f85b1f4d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afdf527e14421" /><Relationship Type="http://schemas.openxmlformats.org/officeDocument/2006/relationships/notesSlide" Target="/ppt/notesSlides/notesSlide10.xml" Id="R07b13ca183eb431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Покрытие фото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73D35"/>
              </a:solidFill>
              <a:latin typeface="Arial"/>
              <a:ea typeface="Arial"/>
              <a:cs typeface="Arial"/>
            </a:defRPr>
          </a:pPr>
        </a:p>
      </c:txPr>
    </c:title>
    <c:plotArea>
      <c:doughnutChart>
        <c:ser>
          <c:idx val="0"/>
          <c:order val="0"/>
          <c:tx>
            <c:v>Места</c:v>
          </c:tx>
          <c:spPr>
            <a:solidFill xmlns:a="http://schemas.openxmlformats.org/drawingml/2006/main">
              <a:srgbClr val="096B5B"/>
            </a:solidFill>
          </c:spPr>
          <c:dPt>
            <c:idx val="0"/>
            <c:spPr>
              <a:solidFill xmlns:a="http://schemas.openxmlformats.org/drawingml/2006/main">
                <a:srgbClr val="096B5B"/>
              </a:solidFill>
            </c:spPr>
          </c:dPt>
          <c:dPt>
            <c:idx val="1"/>
            <c:spPr>
              <a:solidFill xmlns:a="http://schemas.openxmlformats.org/drawingml/2006/main">
                <a:srgbClr val="DFEBE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С фото</c:v>
                </c:pt>
                <c:pt idx="1">
                  <c:v>Без фото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</c:v>
                </c:pt>
                <c:pt idx="1">
                  <c:v>2151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4"/>
      </c:doughnutChart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ECA911B-D625-43BE-8D2F-BF2B7C2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9113B-1172-4852-A23E-E6C3358BA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8da698b44a36"/>
          <a:srcRect xmlns:a="http://schemas.openxmlformats.org/drawingml/2006/main" l="14105" t="0" r="141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pot">
            <a:extLst xmlns:a="http://schemas.openxmlformats.org/drawingml/2006/main">
              <a:ext uri="{FF2B5EF4-FFF2-40B4-BE49-F238E27FC236}">
                <a16:creationId xmlns:a16="http://schemas.microsoft.com/office/drawing/2014/main" id="{C33A9A31-E431-4F2A-BD1A-BD5FAB7C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5524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4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124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Spot</a:t>
            </a:r>
          </a:p>
        </p:txBody>
      </p:sp>
      <p:sp>
        <p:nvSpPr>
          <p:cNvPr id="4" name="Астана за твоё время">
            <a:extLst xmlns:a="http://schemas.openxmlformats.org/drawingml/2006/main">
              <a:ext uri="{FF2B5EF4-FFF2-40B4-BE49-F238E27FC236}">
                <a16:creationId xmlns:a16="http://schemas.microsoft.com/office/drawing/2014/main" id="{C53A93EC-18B2-4AF1-8B44-6C80831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5191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Астана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твоё время</a:t>
            </a:r>
          </a:p>
        </p:txBody>
      </p:sp>
      <p:sp>
        <p:nvSpPr>
          <p:cNvPr id="5" name="ИИ-помощник для коротких прогулок">
            <a:extLst xmlns:a="http://schemas.openxmlformats.org/drawingml/2006/main">
              <a:ext uri="{FF2B5EF4-FFF2-40B4-BE49-F238E27FC236}">
                <a16:creationId xmlns:a16="http://schemas.microsoft.com/office/drawing/2014/main" id="{7F02C2D7-85D1-4D96-9166-7141E2E8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225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для коротких прогулок</a:t>
            </a:r>
          </a:p>
        </p:txBody>
      </p:sp>
      <p:sp>
        <p:nvSpPr>
          <p:cNvPr id="6" name="Build with AI · НИЦ Smart City">
            <a:extLst xmlns:a="http://schemas.openxmlformats.org/drawingml/2006/main">
              <a:ext uri="{FF2B5EF4-FFF2-40B4-BE49-F238E27FC236}">
                <a16:creationId xmlns:a16="http://schemas.microsoft.com/office/drawing/2014/main" id="{DF93DBD2-84D5-45E1-9853-5DED703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Build with AI · НИЦ Smart City</a:t>
            </a:r>
          </a:p>
        </p:txBody>
      </p:sp>
      <p:sp>
        <p:nvSpPr>
          <p:cNvPr id="7" name="© OpenStreetMap contributors">
            <a:extLst xmlns:a="http://schemas.openxmlformats.org/drawingml/2006/main">
              <a:ext uri="{FF2B5EF4-FFF2-40B4-BE49-F238E27FC236}">
                <a16:creationId xmlns:a16="http://schemas.microsoft.com/office/drawing/2014/main" id="{5663094B-BAD6-4783-B0B9-D7D6A6F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4198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1436201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Между делами есть 60 минут. Куда успеть?">
            <a:extLst xmlns:a="http://schemas.openxmlformats.org/drawingml/2006/main">
              <a:ext uri="{FF2B5EF4-FFF2-40B4-BE49-F238E27FC236}">
                <a16:creationId xmlns:a16="http://schemas.microsoft.com/office/drawing/2014/main" id="{E8381789-D11E-482F-B5F7-E4864FF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Между делами есть 60 минут.</a:t>
            </a:r>
          </a:p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Куда успеть?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F9581BB-5898-4688-A6FD-7D35F34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60">
            <a:extLst xmlns:a="http://schemas.openxmlformats.org/drawingml/2006/main">
              <a:ext uri="{FF2B5EF4-FFF2-40B4-BE49-F238E27FC236}">
                <a16:creationId xmlns:a16="http://schemas.microsoft.com/office/drawing/2014/main" id="{92C1BCE5-CE6C-4CFA-85D1-1942B3E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76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8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8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1185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" name="минут">
            <a:extLst xmlns:a="http://schemas.openxmlformats.org/drawingml/2006/main">
              <a:ext uri="{FF2B5EF4-FFF2-40B4-BE49-F238E27FC236}">
                <a16:creationId xmlns:a16="http://schemas.microsoft.com/office/drawing/2014/main" id="{C64B0DAB-DDBB-4DD3-B92B-E945CF3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минут</a:t>
            </a:r>
          </a:p>
        </p:txBody>
      </p:sp>
      <p:sp>
        <p:nvSpPr>
          <p:cNvPr id="5" name="«Я у Ботанического сада. Хочу кофе, затем прогулку и вернуться к ">
            <a:extLst xmlns:a="http://schemas.openxmlformats.org/drawingml/2006/main">
              <a:ext uri="{FF2B5EF4-FFF2-40B4-BE49-F238E27FC236}">
                <a16:creationId xmlns:a16="http://schemas.microsoft.com/office/drawing/2014/main" id="{61F44CE9-9CD8-417F-8C09-9A12F5C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657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«Я у Ботанического сада.</a:t>
            </a:r>
          </a:p>
          <a:p xmlns:a="http://schemas.openxmlformats.org/drawingml/2006/main">
            <a: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Хочу кофе, затем прогулку</a:t>
            </a:r>
          </a:p>
          <a:p xmlns:a="http://schemas.openxmlformats.org/drawingml/2006/main">
            <a: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и вернуться к старту».</a:t>
            </a:r>
          </a:p>
        </p:txBody>
      </p:sp>
      <p:sp>
        <p:nvSpPr>
          <p:cNvPr id="6" name="Жители и гости Астаны: 30–60 минут между делами. Подбор рядом с у">
            <a:extLst xmlns:a="http://schemas.openxmlformats.org/drawingml/2006/main">
              <a:ext uri="{FF2B5EF4-FFF2-40B4-BE49-F238E27FC236}">
                <a16:creationId xmlns:a16="http://schemas.microsoft.com/office/drawing/2014/main" id="{22692AFB-68FB-48ED-9854-90657D95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Жители и гости Астаны: 30–60 минут между делами.</a:t>
            </a:r>
          </a:p>
          <a:p xmlns:a="http://schemas.openxmlformats.org/drawingml/2006/main">
            <a: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Подбор рядом с учётом времени и условий.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859F1-A030-4818-9BED-E6533276B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11f7c7c7f4ef3"/>
          <a:stretch xmlns:a="http://schemas.openxmlformats.org/drawingml/2006/main"/>
        </p:blipFill>
        <p:spPr>
          <a:xfrm xmlns:a="http://schemas.openxmlformats.org/drawingml/2006/main">
            <a:off x="8403804" y="1657350"/>
            <a:ext cx="2156668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53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езультат показывает факты и неизвестность">
            <a:extLst xmlns:a="http://schemas.openxmlformats.org/drawingml/2006/main">
              <a:ext uri="{FF2B5EF4-FFF2-40B4-BE49-F238E27FC236}">
                <a16:creationId xmlns:a16="http://schemas.microsoft.com/office/drawing/2014/main" id="{5B7C0354-3A0D-4EDD-9F13-10E29B08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Результат показывает</a:t>
            </a:r>
          </a:p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факты и неизвестность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0E611755-462B-4E23-9621-CBDC623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Путь рассчитан">
            <a:extLst xmlns:a="http://schemas.openxmlformats.org/drawingml/2006/main">
              <a:ext uri="{FF2B5EF4-FFF2-40B4-BE49-F238E27FC236}">
                <a16:creationId xmlns:a16="http://schemas.microsoft.com/office/drawing/2014/main" id="{4B150D0F-A9BF-4BFE-981E-5C8D30A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Путь</a:t>
            </a:r>
          </a:p>
          <a:p xmlns:a="http://schemas.openxmlformats.org/drawingml/2006/main">
            <a:pPr algn="l">
              <a:defRPr sz="30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рассчитан</a:t>
            </a:r>
          </a:p>
        </p:txBody>
      </p:sp>
      <p:sp>
        <p:nvSpPr>
          <p:cNvPr id="4" name="Время остаётся оценкой">
            <a:extLst xmlns:a="http://schemas.openxmlformats.org/drawingml/2006/main">
              <a:ext uri="{FF2B5EF4-FFF2-40B4-BE49-F238E27FC236}">
                <a16:creationId xmlns:a16="http://schemas.microsoft.com/office/drawing/2014/main" id="{B03B5ADF-9FF8-489B-83CF-EA883D7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Время остаётся</a:t>
            </a:r>
          </a:p>
          <a:p xmlns:a="http://schemas.openxmlformats.org/drawingml/2006/main">
            <a:pPr algn="l">
              <a:defRPr sz="21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оценкой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029E1-FCA8-4250-81C2-EECA42219F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c0f2ce764410b"/>
          <a:stretch xmlns:a="http://schemas.openxmlformats.org/drawingml/2006/main"/>
        </p:blipFill>
        <p:spPr>
          <a:xfrm xmlns:a="http://schemas.openxmlformats.org/drawingml/2006/main">
            <a:off x="3944302" y="1847850"/>
            <a:ext cx="6827520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2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Открытые данные, проверяемое происхождение">
            <a:extLst xmlns:a="http://schemas.openxmlformats.org/drawingml/2006/main">
              <a:ext uri="{FF2B5EF4-FFF2-40B4-BE49-F238E27FC236}">
                <a16:creationId xmlns:a16="http://schemas.microsoft.com/office/drawing/2014/main" id="{B3578963-201D-4C75-9CE2-2FF87A8E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Открытые данные,</a:t>
            </a:r>
          </a:p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проверяемое происхождение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3E025F06-5B58-4EDB-B2BC-5169AA89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2165">
            <a:extLst xmlns:a="http://schemas.openxmlformats.org/drawingml/2006/main">
              <a:ext uri="{FF2B5EF4-FFF2-40B4-BE49-F238E27FC236}">
                <a16:creationId xmlns:a16="http://schemas.microsoft.com/office/drawing/2014/main" id="{88991C8D-43A6-4B84-9D5A-F6FFCFC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8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2165</a:t>
            </a:r>
          </a:p>
        </p:txBody>
      </p:sp>
      <p:sp>
        <p:nvSpPr>
          <p:cNvPr id="4" name="мест доступны для поиска">
            <a:extLst xmlns:a="http://schemas.openxmlformats.org/drawingml/2006/main">
              <a:ext uri="{FF2B5EF4-FFF2-40B4-BE49-F238E27FC236}">
                <a16:creationId xmlns:a16="http://schemas.microsoft.com/office/drawing/2014/main" id="{6907322C-660B-474B-A33B-4A0C3A3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мест доступны</a:t>
            </a:r>
          </a:p>
          <a:p xmlns:a="http://schemas.openxmlformats.org/drawingml/2006/main">
            <a:pPr algn="l">
              <a:defRPr sz="24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для поиска</a:t>
            </a:r>
          </a:p>
        </p:txBody>
      </p:sp>
      <p:sp>
        <p:nvSpPr>
          <p:cNvPr id="5" name="2170 сохранено · 5 в карантине">
            <a:extLst xmlns:a="http://schemas.openxmlformats.org/drawingml/2006/main">
              <a:ext uri="{FF2B5EF4-FFF2-40B4-BE49-F238E27FC236}">
                <a16:creationId xmlns:a16="http://schemas.microsoft.com/office/drawing/2014/main" id="{890AAB96-55A4-410B-B3A2-BEE972B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2170 сохранено · 5 в карантине</a:t>
            </a:r>
          </a:p>
        </p:txBody>
      </p:sp>
      <p:sp>
        <p:nvSpPr>
          <p:cNvPr id="6" name="60 фотографий">
            <a:extLst xmlns:a="http://schemas.openxmlformats.org/drawingml/2006/main">
              <a:ext uri="{FF2B5EF4-FFF2-40B4-BE49-F238E27FC236}">
                <a16:creationId xmlns:a16="http://schemas.microsoft.com/office/drawing/2014/main" id="{E327BAFB-59C5-4C6E-977B-6AE4BAC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60 фотографий</a:t>
            </a:r>
          </a:p>
        </p:txBody>
      </p:sp>
      <p:sp>
        <p:nvSpPr>
          <p:cNvPr id="7" name="Автор, лицензия и источник каждого кадра">
            <a:extLst xmlns:a="http://schemas.openxmlformats.org/drawingml/2006/main">
              <a:ext uri="{FF2B5EF4-FFF2-40B4-BE49-F238E27FC236}">
                <a16:creationId xmlns:a16="http://schemas.microsoft.com/office/drawing/2014/main" id="{025A6171-43BD-45B7-8A34-742B5CA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Автор, лицензия и источник каждого кадра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48AD85D-6795-4241-9137-036EE6A5AE67}"/>
              </a:ext>
            </a:extLst>
          </p:cNvPr>
          <p:cNvGraphicFramePr/>
          <p:nvPr/>
        </p:nvGraphicFramePr>
        <p:xfrm>
          <a:off xmlns:a="http://schemas.openxmlformats.org/drawingml/2006/main" x="6896100" y="1943100"/>
          <a:ext xmlns:a="http://schemas.openxmlformats.org/drawingml/2006/main" cx="3905250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18f37d04c64b68"/>
          </a:graphicData>
        </a:graphic>
      </p:graphicFrame>
      <p:sp>
        <p:nvSpPr>
          <p:cNvPr id="9" name="14 из 2165">
            <a:extLst xmlns:a="http://schemas.openxmlformats.org/drawingml/2006/main">
              <a:ext uri="{FF2B5EF4-FFF2-40B4-BE49-F238E27FC236}">
                <a16:creationId xmlns:a16="http://schemas.microsoft.com/office/drawing/2014/main" id="{036EEB5E-0517-489B-92D7-33E40C58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054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14 из 2165</a:t>
            </a:r>
          </a:p>
        </p:txBody>
      </p:sp>
      <p:sp>
        <p:nvSpPr>
          <p:cNvPr id="10" name="мест с подтверждёнными фото">
            <a:extLst xmlns:a="http://schemas.openxmlformats.org/drawingml/2006/main">
              <a:ext uri="{FF2B5EF4-FFF2-40B4-BE49-F238E27FC236}">
                <a16:creationId xmlns:a16="http://schemas.microsoft.com/office/drawing/2014/main" id="{E94CAC55-E702-4B7B-A80F-D539FA53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84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мест с подтверждёнными фото</a:t>
            </a:r>
          </a:p>
        </p:txBody>
      </p:sp>
    </p:spTree>
    <p:extLst>
      <p:ext uri="{BB962C8B-B14F-4D97-AF65-F5344CB8AC3E}">
        <p14:creationId xmlns:p14="http://schemas.microsoft.com/office/powerpoint/2010/main" val="66549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G связывает поиск и проверку ответа">
            <a:extLst xmlns:a="http://schemas.openxmlformats.org/drawingml/2006/main">
              <a:ext uri="{FF2B5EF4-FFF2-40B4-BE49-F238E27FC236}">
                <a16:creationId xmlns:a16="http://schemas.microsoft.com/office/drawing/2014/main" id="{0A6BC674-927E-4CFE-86B1-3C28D66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 связывает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и проверку ответа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F97BEEF-5183-412C-A7B7-35814CFD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2170">
            <a:extLst xmlns:a="http://schemas.openxmlformats.org/drawingml/2006/main">
              <a:ext uri="{FF2B5EF4-FFF2-40B4-BE49-F238E27FC236}">
                <a16:creationId xmlns:a16="http://schemas.microsoft.com/office/drawing/2014/main" id="{0903FF55-FD45-482D-9CAD-FB0152DE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2170</a:t>
            </a:r>
          </a:p>
        </p:txBody>
      </p:sp>
      <p:sp>
        <p:nvSpPr>
          <p:cNvPr id="4" name="векторов × 768">
            <a:extLst xmlns:a="http://schemas.openxmlformats.org/drawingml/2006/main">
              <a:ext uri="{FF2B5EF4-FFF2-40B4-BE49-F238E27FC236}">
                <a16:creationId xmlns:a16="http://schemas.microsoft.com/office/drawing/2014/main" id="{78840A8D-3CA0-49CF-8784-82031ED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векторов × 768</a:t>
            </a:r>
          </a:p>
        </p:txBody>
      </p:sp>
      <p:sp>
        <p:nvSpPr>
          <p:cNvPr id="5" name="embeddinggemma">
            <a:extLst xmlns:a="http://schemas.openxmlformats.org/drawingml/2006/main">
              <a:ext uri="{FF2B5EF4-FFF2-40B4-BE49-F238E27FC236}">
                <a16:creationId xmlns:a16="http://schemas.microsoft.com/office/drawing/2014/main" id="{6C8C97DA-6913-4076-83E4-A2F2FC0D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embeddinggemma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C48DD-4965-461C-8091-75BF66FAAB37}"/>
              </a:ext>
            </a:extLst>
          </p:cNvPr>
          <p:cNvGraphicFramePr/>
          <p:nvPr/>
        </p:nvGraphicFramePr>
        <p:xfrm>
          <a:off xmlns:a="http://schemas.openxmlformats.org/drawingml/2006/main" x="3733800" y="2066925"/>
          <a:ext xmlns:a="http://schemas.openxmlformats.org/drawingml/2006/main" cx="7810500" cy="3857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381250"/>
                <a:gridCol w="5429250"/>
              </a:tblGrid>
              <a:tr h="7715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45685E"/>
                      </a:solidFill>
                      <a:prstDash val="solid"/>
                    </a:lnL>
                    <a:lnR w="5715">
                      <a:solidFill>
                        <a:srgbClr val="45685E"/>
                      </a:solidFill>
                      <a:prstDash val="solid"/>
                    </a:lnR>
                    <a:lnT w="5715">
                      <a:solidFill>
                        <a:srgbClr val="45685E"/>
                      </a:solidFill>
                      <a:prstDash val="solid"/>
                    </a:lnT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285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45685E"/>
                      </a:solidFill>
                      <a:prstDash val="solid"/>
                    </a:lnR>
                    <a:lnT w="5715">
                      <a:solidFill>
                        <a:srgbClr val="45685E"/>
                      </a:solidFill>
                      <a:prstDash val="solid"/>
                    </a:lnT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285A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Поиск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45685E"/>
                      </a:solidFill>
                      <a:prstDash val="solid"/>
                    </a:lnL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География, текст и совместимые векторы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Условия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45685E"/>
                      </a:solidFill>
                      <a:prstDash val="solid"/>
                    </a:lnL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Время, часы и обязательные признаки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Выбор Qwen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45685E"/>
                      </a:solidFill>
                      <a:prstDash val="solid"/>
                    </a:lnL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Ранжирует номера найденных кандидатов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45685E"/>
                      </a:solidFill>
                      <a:prstDash val="solid"/>
                    </a:lnL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Сервер связывает ID и проверяет время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45685E"/>
                      </a:solidFill>
                      <a:prstDash val="solid"/>
                    </a:lnR>
                    <a:lnB w="5715">
                      <a:solidFill>
                        <a:srgbClr val="45685E"/>
                      </a:solidFill>
                      <a:prstDash val="solid"/>
                    </a:lnB>
                    <a:solidFill>
                      <a:srgbClr val="082F2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73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офе → парк в выбранное время">
            <a:extLst xmlns:a="http://schemas.openxmlformats.org/drawingml/2006/main">
              <a:ext uri="{FF2B5EF4-FFF2-40B4-BE49-F238E27FC236}">
                <a16:creationId xmlns:a16="http://schemas.microsoft.com/office/drawing/2014/main" id="{138BC944-51D0-4D33-BE56-BB7B4EE4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Кофе → парк</a:t>
            </a:r>
          </a:p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в выбранное время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7B16D5B6-BF5A-48C5-9AA9-23E08AF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«Сначала кофе, затем парк»">
            <a:extLst xmlns:a="http://schemas.openxmlformats.org/drawingml/2006/main">
              <a:ext uri="{FF2B5EF4-FFF2-40B4-BE49-F238E27FC236}">
                <a16:creationId xmlns:a16="http://schemas.microsoft.com/office/drawing/2014/main" id="{08DF987A-1D3F-45B4-8C06-09D4857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00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«Сначала кофе,</a:t>
            </a:r>
          </a:p>
          <a:p xmlns:a="http://schemas.openxmlformats.org/drawingml/2006/main">
            <a:pPr algn="l">
              <a:defRPr sz="42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затем парк»</a:t>
            </a:r>
          </a:p>
        </p:txBody>
      </p:sp>
      <p:sp>
        <p:nvSpPr>
          <p:cNvPr id="4" name="Все этапы обязательны. Старт задан явно в UTC+5. Условия сохраняю">
            <a:extLst xmlns:a="http://schemas.openxmlformats.org/drawingml/2006/main">
              <a:ext uri="{FF2B5EF4-FFF2-40B4-BE49-F238E27FC236}">
                <a16:creationId xmlns:a16="http://schemas.microsoft.com/office/drawing/2014/main" id="{955F0D8B-1AA2-467D-B353-AA2D057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Все этапы обязательны.</a:t>
            </a:r>
          </a:p>
          <a:p xmlns:a="http://schemas.openxmlformats.org/drawingml/2006/main">
            <a:pPr algn="l">
              <a:defRPr sz="21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Старт задан явно в UTC+5.</a:t>
            </a:r>
          </a:p>
          <a:p xmlns:a="http://schemas.openxmlformats.org/drawingml/2006/main">
            <a:pPr algn="l">
              <a:defRPr sz="21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Условия сохраняются при уточнении.</a:t>
            </a:r>
          </a:p>
        </p:txBody>
      </p:sp>
      <p:sp>
        <p:nvSpPr>
          <p:cNvPr id="5" name="Совпадение этапов не заменяет расчёт пути.">
            <a:extLst xmlns:a="http://schemas.openxmlformats.org/drawingml/2006/main">
              <a:ext uri="{FF2B5EF4-FFF2-40B4-BE49-F238E27FC236}">
                <a16:creationId xmlns:a16="http://schemas.microsoft.com/office/drawing/2014/main" id="{AACED0D3-4211-4B2B-8528-66F1B68C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Совпадение этапов не заменяет расчёт пути.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689DA-13F0-4862-A3AA-CC61BE0C7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c3d4024f64901"/>
          <a:stretch xmlns:a="http://schemas.openxmlformats.org/drawingml/2006/main"/>
        </p:blipFill>
        <p:spPr>
          <a:xfrm xmlns:a="http://schemas.openxmlformats.org/drawingml/2006/main">
            <a:off x="8502883" y="1809750"/>
            <a:ext cx="2453809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93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Риски и реальные меры">
            <a:extLst xmlns:a="http://schemas.openxmlformats.org/drawingml/2006/main">
              <a:ext uri="{FF2B5EF4-FFF2-40B4-BE49-F238E27FC236}">
                <a16:creationId xmlns:a16="http://schemas.microsoft.com/office/drawing/2014/main" id="{7428DE9A-8105-43C8-93DE-240EE12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Риски и реальные меры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6F81B4C-85EA-4460-888A-E23BD22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C7C03-8F07-49C8-BC17-3198314891CB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333750"/>
                <a:gridCol w="3905250"/>
                <a:gridCol w="3733800"/>
              </a:tblGrid>
              <a:tr h="800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Риск и влияние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T w="5715">
                      <a:solidFill>
                        <a:srgbClr val="D7E3DC"/>
                      </a:solidFill>
                      <a:prstDash val="solid"/>
                    </a:lnT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3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Уже сделано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T w="5715">
                      <a:solidFill>
                        <a:srgbClr val="D7E3DC"/>
                      </a:solidFill>
                      <a:prstDash val="solid"/>
                    </a:lnT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3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Что остаётся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T w="5715">
                      <a:solidFill>
                        <a:srgbClr val="D7E3DC"/>
                      </a:solidFill>
                      <a:prstDash val="solid"/>
                    </a:lnT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3F7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Неполные POI</a:t>
                      </a:r>
                    </a:p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Ошибка выбора места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Обязательные фильтры,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неизвестность, источники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Проверять часы, цены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и удобства на месте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Qwen на CPU</a:t>
                      </a:r>
                    </a:p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Ожидание, неверный ответ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структуры,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таймаут, явный резерв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Измерять задержки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и оценивать с людьми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Сбой API и расходы</a:t>
                      </a:r>
                    </a:p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Нет ответа, лишний вызов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Явные режимы,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бюджетный запрет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Опционально: облачная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бюджетом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Геолокация</a:t>
                      </a:r>
                    </a:p>
                    <a:p>
                      <a:r>
                        <a:rPr sz="15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Передача внешней стороне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Ручной старт,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минимизация AI-контекста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Учитывать запросы карты</a:t>
                      </a:r>
                    </a:p>
                    <a:p>
                      <a:r>
                        <a:rPr sz="15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и сервиса маршрутов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513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8">
            <a:extLst xmlns:a="http://schemas.openxmlformats.org/drawingml/2006/main">
              <a:ext uri="{FF2B5EF4-FFF2-40B4-BE49-F238E27FC236}">
                <a16:creationId xmlns:a16="http://schemas.microsoft.com/office/drawing/2014/main" id="{7ECA6DF2-C47E-4A15-A32B-9075197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Понятные источники">
            <a:extLst xmlns:a="http://schemas.openxmlformats.org/drawingml/2006/main">
              <a:ext uri="{FF2B5EF4-FFF2-40B4-BE49-F238E27FC236}">
                <a16:creationId xmlns:a16="http://schemas.microsoft.com/office/drawing/2014/main" id="{334E9F8C-DD5A-4D4F-B467-31B5B61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Понятные источники</a:t>
            </a:r>
          </a:p>
        </p:txBody>
      </p:sp>
      <p:sp>
        <p:nvSpPr>
          <p:cNvPr id="3" name="и границы приватности">
            <a:extLst xmlns:a="http://schemas.openxmlformats.org/drawingml/2006/main">
              <a:ext uri="{FF2B5EF4-FFF2-40B4-BE49-F238E27FC236}">
                <a16:creationId xmlns:a16="http://schemas.microsoft.com/office/drawing/2014/main" id="{2064F486-AF7A-4CF2-AD48-C43396E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границы приватности</a:t>
            </a:r>
          </a:p>
        </p:txBody>
      </p:sp>
      <p:sp>
        <p:nvSpPr>
          <p:cNvPr id="4" name="Старт по действию. История не сохраняется. Внешние сервисы назван">
            <a:extLst xmlns:a="http://schemas.openxmlformats.org/drawingml/2006/main">
              <a:ext uri="{FF2B5EF4-FFF2-40B4-BE49-F238E27FC236}">
                <a16:creationId xmlns:a16="http://schemas.microsoft.com/office/drawing/2014/main" id="{47287DDF-3D75-4BBB-A8AA-1988CC8E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628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Старт по действию.</a:t>
            </a:r>
          </a:p>
          <a:p xmlns:a="http://schemas.openxmlformats.org/drawingml/2006/main">
            <a:pPr algn="l">
              <a:defRPr sz="232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История не сохраняется.</a:t>
            </a:r>
          </a:p>
          <a:p xmlns:a="http://schemas.openxmlformats.org/drawingml/2006/main">
            <a:pPr algn="l">
              <a:defRPr sz="232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Внешние сервисы названы.</a:t>
            </a:r>
          </a:p>
        </p:txBody>
      </p:sp>
      <p:sp>
        <p:nvSpPr>
          <p:cNvPr id="5" name="Далее: проверить полезность с людьми.">
            <a:extLst xmlns:a="http://schemas.openxmlformats.org/drawingml/2006/main">
              <a:ext uri="{FF2B5EF4-FFF2-40B4-BE49-F238E27FC236}">
                <a16:creationId xmlns:a16="http://schemas.microsoft.com/office/drawing/2014/main" id="{1036B961-1DD6-4FA5-BFAD-AEE7F90B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FEB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BE5"/>
                </a:solidFill>
                <a:latin typeface="Arial"/>
                <a:ea typeface="Arial"/>
                <a:cs typeface="Arial"/>
              </a:rPr>
              <a:t>Далее: проверить полезность с людьми.</a:t>
            </a:r>
          </a:p>
        </p:txBody>
      </p:sp>
      <p:sp>
        <p:nvSpPr>
          <p:cNvPr id="6" name="Spot">
            <a:extLst xmlns:a="http://schemas.openxmlformats.org/drawingml/2006/main">
              <a:ext uri="{FF2B5EF4-FFF2-40B4-BE49-F238E27FC236}">
                <a16:creationId xmlns:a16="http://schemas.microsoft.com/office/drawing/2014/main" id="{B313FB01-2DE0-46DA-9EE4-2332CB5B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7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Spot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72839-36ED-41CF-BF50-B98672A1E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bb8dd17034ea3"/>
          <a:stretch xmlns:a="http://schemas.openxmlformats.org/drawingml/2006/main"/>
        </p:blipFill>
        <p:spPr>
          <a:xfrm xmlns:a="http://schemas.openxmlformats.org/drawingml/2006/main">
            <a:off x="8353425" y="1022961"/>
            <a:ext cx="2676525" cy="48311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Что изменилось и как проверено">
            <a:extLst xmlns:a="http://schemas.openxmlformats.org/drawingml/2006/main">
              <a:ext uri="{FF2B5EF4-FFF2-40B4-BE49-F238E27FC236}">
                <a16:creationId xmlns:a16="http://schemas.microsoft.com/office/drawing/2014/main" id="{F193284F-FBBD-4FC3-97A6-CBF43F4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Что изменилось и как проверено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42FFCC48-0720-43D8-BDF0-AB2C22E6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7DCCA-F3A4-43F3-B155-48A5128F6F23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0"/>
                <a:gridCol w="5734050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T w="5715">
                      <a:solidFill>
                        <a:srgbClr val="D7E3DC"/>
                      </a:solidFill>
                      <a:prstDash val="solid"/>
                    </a:lnT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3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результат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T w="5715">
                      <a:solidFill>
                        <a:srgbClr val="D7E3DC"/>
                      </a:solidFill>
                      <a:prstDash val="solid"/>
                    </a:lnT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3F7F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Фиксированные внутренние кейсы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5 / 14 → 14 / 14 · пройдено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Unit и интеграционные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265 / 265 · пройдено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Браузерные сценарии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38 / 38 · пройдено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Snapshot и eval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18 / 18 + 10 / 10 · пройдено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Harness: lint, типы, build и другие</a:t>
                      </a:r>
                    </a:p>
                  </a:txBody>
                  <a:tcPr marL="152400" marR="152400" marT="104775" marB="104775" anchor="ctr">
                    <a:lnL w="5715">
                      <a:solidFill>
                        <a:srgbClr val="D7E3DC"/>
                      </a:solidFill>
                      <a:prstDash val="solid"/>
                    </a:lnL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8 / 8 · пройдено</a:t>
                      </a:r>
                    </a:p>
                  </a:txBody>
                  <a:tcPr marL="152400" marR="152400" marT="104775" marB="104775" anchor="ctr">
                    <a:lnR w="5715">
                      <a:solidFill>
                        <a:srgbClr val="D7E3DC"/>
                      </a:solidFill>
                      <a:prstDash val="solid"/>
                    </a:lnR>
                    <a:lnB w="5715">
                      <a:solidFill>
                        <a:srgbClr val="D7E3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Фиксированные кейсы — внутренние проверки. Оценку жюри они не пре">
            <a:extLst xmlns:a="http://schemas.openxmlformats.org/drawingml/2006/main">
              <a:ext uri="{FF2B5EF4-FFF2-40B4-BE49-F238E27FC236}">
                <a16:creationId xmlns:a16="http://schemas.microsoft.com/office/drawing/2014/main" id="{D9CF3BC8-3DD1-4F07-A63D-F1598F3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Фиксированные кейсы — внутренние проверки.</a:t>
            </a:r>
          </a:p>
          <a:p xmlns:a="http://schemas.openxmlformats.org/drawingml/2006/main">
            <a:pPr algn="l">
              <a:defRPr sz="157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Оценку жюри они не предсказывают.</a:t>
            </a:r>
          </a:p>
        </p:txBody>
      </p:sp>
    </p:spTree>
    <p:extLst>
      <p:ext uri="{BB962C8B-B14F-4D97-AF65-F5344CB8AC3E}">
        <p14:creationId xmlns:p14="http://schemas.microsoft.com/office/powerpoint/2010/main" val="1615904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сточники и права на изображения">
            <a:extLst xmlns:a="http://schemas.openxmlformats.org/drawingml/2006/main">
              <a:ext uri="{FF2B5EF4-FFF2-40B4-BE49-F238E27FC236}">
                <a16:creationId xmlns:a16="http://schemas.microsoft.com/office/drawing/2014/main" id="{C87EDC2E-05E6-44B9-80B9-364730C2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Источники и права на изображения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0DD82918-5C49-40C2-9305-B6ECDBB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Данные и проверка">
            <a:extLst xmlns:a="http://schemas.openxmlformats.org/drawingml/2006/main">
              <a:ext uri="{FF2B5EF4-FFF2-40B4-BE49-F238E27FC236}">
                <a16:creationId xmlns:a16="http://schemas.microsoft.com/office/drawing/2014/main" id="{A7DC3620-3B16-441C-B43E-D8E9032D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Данные и проверка</a:t>
            </a:r>
          </a:p>
        </p:txBody>
      </p:sp>
      <p:sp>
        <p:nvSpPr>
          <p:cNvPr id="4" name="OpenStreetMap · © contributors · ODbL Wikimedia Commons · лицензи">
            <a:extLst xmlns:a="http://schemas.openxmlformats.org/drawingml/2006/main">
              <a:ext uri="{FF2B5EF4-FFF2-40B4-BE49-F238E27FC236}">
                <a16:creationId xmlns:a16="http://schemas.microsoft.com/office/drawing/2014/main" id="{E3B92C33-9CDB-47B8-86C9-37F800D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OpenStreetMap · © contributors · ODbL</a:t>
            </a:r>
          </a:p>
          <a:p xmlns:a="http://schemas.openxmlformats.org/drawingml/2006/main">
            <a:pPr algn="l">
              <a:defRPr sz="18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Wikimedia Commons · лицензия каждого файла</a:t>
            </a:r>
          </a:p>
          <a:p xmlns:a="http://schemas.openxmlformats.org/drawingml/2006/main">
            <a:pPr algn="l">
              <a:defRPr sz="18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Google Maps: внешняя ссылка без копирования каталога</a:t>
            </a:r>
          </a:p>
          <a:p xmlns:a="http://schemas.openxmlformats.org/drawingml/2006/main">
            <a:pPr algn="l">
              <a:defRPr sz="180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Проверка кода: 18 октября 2026 · R2</a:t>
            </a:r>
          </a:p>
        </p:txBody>
      </p:sp>
      <p:sp>
        <p:nvSpPr>
          <p:cNvPr id="5" name="Изображения в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8C3E1420-0575-458A-867A-40776F5E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Изображения в презентации</a:t>
            </a:r>
          </a:p>
        </p:txBody>
      </p:sp>
      <p:sp>
        <p:nvSpPr>
          <p:cNvPr id="6" name="Обложка: карта и фактический расчёт пути Spot Фотографии внутри п">
            <a:extLst xmlns:a="http://schemas.openxmlformats.org/drawingml/2006/main">
              <a:ext uri="{FF2B5EF4-FFF2-40B4-BE49-F238E27FC236}">
                <a16:creationId xmlns:a16="http://schemas.microsoft.com/office/drawing/2014/main" id="{96930D8D-8F00-4EF8-A3A1-E7257D0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Обложка: карта и фактический расчёт пути Spot</a:t>
            </a:r>
          </a:p>
          <a:p xmlns:a="http://schemas.openxmlformats.org/drawingml/2006/main">
            <a:pPr algn="l">
              <a:defRPr sz="18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Фотографии внутри приложения имеют подписи источника</a:t>
            </a:r>
          </a:p>
          <a:p xmlns:a="http://schemas.openxmlformats.org/drawingml/2006/main">
            <a:pPr algn="l">
              <a:defRPr sz="18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Карты и скриншоты: OpenStreetMap и фактический Spot</a:t>
            </a:r>
          </a:p>
        </p:txBody>
      </p:sp>
      <p:sp>
        <p:nvSpPr>
          <p:cNvPr id="7" name="Прямые ссылки и локальные доказательства находятся в заметках.">
            <a:extLst xmlns:a="http://schemas.openxmlformats.org/drawingml/2006/main">
              <a:ext uri="{FF2B5EF4-FFF2-40B4-BE49-F238E27FC236}">
                <a16:creationId xmlns:a16="http://schemas.microsoft.com/office/drawing/2014/main" id="{BDB572F9-E40B-4B62-925C-10F718A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C7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6A"/>
                </a:solidFill>
                <a:latin typeface="Arial"/>
                <a:ea typeface="Arial"/>
                <a:cs typeface="Arial"/>
              </a:rPr>
              <a:t>Прямые ссылки и локальные доказательства находятся в заметках.</a:t>
            </a:r>
          </a:p>
        </p:txBody>
      </p:sp>
    </p:spTree>
    <p:extLst>
      <p:ext uri="{BB962C8B-B14F-4D97-AF65-F5344CB8AC3E}">
        <p14:creationId xmlns:p14="http://schemas.microsoft.com/office/powerpoint/2010/main" val="1390491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2026-10-18T18:28:18.6240000Z</dcterms:created>
  <dcterms:modified xsi:type="dcterms:W3CDTF">2026-10-18T18:28:18.6240000Z</dcterms:modified>
</coreProperties>
</file>